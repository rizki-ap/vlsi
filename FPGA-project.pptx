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2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2477-7B75-35AB-7600-95CFC685A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62E79-2656-B197-7357-036C3B3D2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046D3-B665-A12D-25AF-9BFFE843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D1CB-1ED2-D24D-59D6-FED766063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EC12-F5D2-2B37-B9DA-6A25C891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319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3706-DB1F-B289-E6B4-A3045446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764BB-1D91-63CD-438E-C4DF493BC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7BB61-4F20-BE9C-B670-4D7AA1ADA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04F77-3089-CD99-9722-C553E825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BCB5A-565B-8185-72D2-BAD37CEF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188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CA61-458E-AF82-60A9-15B33799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07098-7B2D-C0B1-DB38-AAF8E1EBE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EE4FF-F620-61C1-869F-B1FB5B2A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E0BFA-56A3-2F8B-DFFD-9138E04E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AB610-E415-E438-3F39-4A15DDEC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3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517F-5BDE-4DC3-9C42-3927BC47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FC0B0-6B1E-B208-619C-5407C84FB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3453B-7378-28AE-A65E-CB8777C63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1E13E-B616-3A94-7AC6-7C2037D4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D74381-DDCC-F297-457E-307C5CD7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AA09-3AB6-0424-E0EA-0D8DE817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500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10C6-1CB0-B8B0-356D-ADA4856FF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243DA-C7BB-5E76-D00D-C1CDDB59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4ABF8-863E-47A9-B298-4736FCB78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CE244-20A7-D9B9-D29B-9BE1621AE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FA1738-E8B0-963E-2E08-B6B34DEBE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A836FD-57DE-BC48-EC65-D730745F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09547-110B-437A-CF96-E98DB858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089C6-6E8B-D2FF-D06B-0F650077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419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CDE24-FC68-A030-A11C-092B35B8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423FE1-A0DA-E990-27A4-9E75BE60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B9B26-3E79-E571-B152-4EF7C921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E71B96-0759-D20E-D794-4CB3ABC8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611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38DE1-2A2C-39D0-DF91-2A3B25A3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A5C88-6D1A-E6E2-B38D-533392CF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23ED7-4592-C5F7-0F90-1703E80D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577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6DE5-F19C-152B-7F09-5E67656E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FC10-4906-FA4B-04AC-A9F72D6E8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1233E-5548-70AD-6294-19A592775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8082F-18D8-0B63-194A-91AFA1FD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B3397-6B06-82DE-039C-54B7A4D3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7E6B-0379-CDB9-5C86-F1A9A3FD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413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B3A0-DC7F-091F-FF5F-34CDE3F4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8B18F4-8A27-E0CC-80A7-0C6299172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F69B0-A02A-E284-FFA8-756AEFEEC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3D208-61C0-CBC6-925E-A09E73D31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C3C02-685B-F579-6B14-E5E7D890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9B009-9276-2EA8-BDAF-E3DFCC78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661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6366-6A82-084F-9355-B61432FD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55412-1AE6-64D6-9BE5-C4CE0981F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D4088-6816-DB64-6320-34A86156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C9143-214A-3925-1FF3-D7F8CFB1F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B187E-BCEC-753B-CDE7-3E0BE580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247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27292-7EC1-3630-91BE-8F2D2A59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3A939-05A6-C1C0-CAFA-70F2110A4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1468C-1DD5-764D-38B5-153E8093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0F399-0848-34B8-38C3-616C9D03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B62B-3B09-6453-732B-715E2CC4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55768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4B8CA-EDF3-A8F3-101E-D9AD35651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4C725-63CE-3B9E-FE66-14D768A98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008C6-3E38-D600-CA5C-26CED604E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EA98F-2F9C-4F65-8B59-8AE2788C9149}" type="datetimeFigureOut">
              <a:rPr lang="en-ID" smtClean="0"/>
              <a:t>18/09/2026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00175-BB6A-9A9C-7457-A96F98B36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404FA-7E45-0E89-1784-49CB29A8B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920E71-FB74-4983-8BC2-3FD3F64C263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899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A517-9837-F571-245F-03C109DA5A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E6282-B809-6599-DA46-1ED390F49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475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2631-1D9C-80EC-399B-E01D4653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Quartus FPGA Design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FE36-5087-99B3-164E-99AD32E4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Quartus Project</a:t>
            </a:r>
          </a:p>
          <a:p>
            <a:r>
              <a:rPr lang="en-US" dirty="0"/>
              <a:t>Creating Design Files (+edit)</a:t>
            </a:r>
          </a:p>
          <a:p>
            <a:r>
              <a:rPr lang="en-US" dirty="0"/>
              <a:t>Compiling Designs</a:t>
            </a:r>
          </a:p>
          <a:p>
            <a:r>
              <a:rPr lang="en-US" dirty="0"/>
              <a:t>Pin Assignments</a:t>
            </a:r>
          </a:p>
          <a:p>
            <a:r>
              <a:rPr lang="en-US" dirty="0"/>
              <a:t>Programming to Board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8672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C8C8-4D1F-0214-C602-E978E01B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(1)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47344-3B3E-460A-37F7-374FF9A23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8890" cy="2696133"/>
          </a:xfrm>
        </p:spPr>
        <p:txBody>
          <a:bodyPr/>
          <a:lstStyle/>
          <a:p>
            <a:r>
              <a:rPr lang="en-US" dirty="0"/>
              <a:t>Open Quartus 18.1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EACD2-C49C-3B8D-98D9-0991FE9B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62" y="1643158"/>
            <a:ext cx="8169310" cy="48497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AA1E3C-483E-76B6-929F-3541920CC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619" y="2692437"/>
            <a:ext cx="83831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9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E02E-D4AF-4CAB-04F4-3416E5C6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9CFC-DFD4-267D-43C0-F68CF8BE9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1" dirty="0"/>
              <a:t>File</a:t>
            </a:r>
            <a:r>
              <a:rPr lang="id-ID" dirty="0"/>
              <a:t> &gt;&gt; </a:t>
            </a:r>
            <a:r>
              <a:rPr lang="id-ID" b="1" dirty="0"/>
              <a:t>New Project Wizard...</a:t>
            </a:r>
            <a:endParaRPr lang="en-US" b="1" dirty="0"/>
          </a:p>
          <a:p>
            <a:r>
              <a:rPr lang="en-US" b="1" dirty="0"/>
              <a:t>next</a:t>
            </a:r>
            <a:r>
              <a:rPr lang="id-ID" b="1" dirty="0"/>
              <a:t> 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2BFF7-5F42-907E-E77E-E2025626D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60" y="1165156"/>
            <a:ext cx="5323365" cy="539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31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6E7D-DEFD-7DFD-0FA0-EDF9F148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(3)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77F8-6A52-7663-1AA9-6ABEE67D8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0255" cy="4351338"/>
          </a:xfrm>
        </p:spPr>
        <p:txBody>
          <a:bodyPr/>
          <a:lstStyle/>
          <a:p>
            <a:r>
              <a:rPr lang="en-US" dirty="0"/>
              <a:t>Directory, Name, Top-Level…</a:t>
            </a:r>
          </a:p>
          <a:p>
            <a:r>
              <a:rPr lang="en-US" dirty="0"/>
              <a:t>Directory : C/altera/project1</a:t>
            </a:r>
          </a:p>
          <a:p>
            <a:r>
              <a:rPr lang="en-US" dirty="0"/>
              <a:t>Project-Name : project1</a:t>
            </a:r>
          </a:p>
          <a:p>
            <a:r>
              <a:rPr lang="en-US" dirty="0"/>
              <a:t>Top-level : project1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Note : Create the new directory if necessary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A37FB-FE51-4E9B-03FC-6B9FFB537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455" y="552962"/>
            <a:ext cx="6001588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3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C69C-695E-DC45-5AB0-ABC16F32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(4)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D60DA-433A-547B-2D24-44894A56E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Type : Empty Project</a:t>
            </a:r>
          </a:p>
          <a:p>
            <a:r>
              <a:rPr lang="en-US" dirty="0"/>
              <a:t>next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14D59-CD90-CAD3-1B04-AFD04EA4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26" y="1308851"/>
            <a:ext cx="5235191" cy="533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89298-74CC-11D1-8422-DF044D0A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(5)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44C08-0FC5-42D7-13F6-33337D929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files :</a:t>
            </a:r>
          </a:p>
          <a:p>
            <a:r>
              <a:rPr lang="en-US" dirty="0"/>
              <a:t>next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42460-842B-D6C0-0B2B-5E8F0A59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90555"/>
            <a:ext cx="5717675" cy="560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51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F1CF-8F1B-CEB2-3F22-5D9439C18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(6)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DCE2D-9BFC-567F-C75D-4FD89CE9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dirty="0"/>
              <a:t>Family, Device, Board Setting</a:t>
            </a:r>
          </a:p>
          <a:p>
            <a:r>
              <a:rPr lang="en-ID" sz="2400" dirty="0"/>
              <a:t>Name Filter :</a:t>
            </a:r>
          </a:p>
          <a:p>
            <a:pPr marL="0" indent="0">
              <a:buNone/>
            </a:pPr>
            <a:r>
              <a:rPr lang="en-ID" sz="2400" dirty="0"/>
              <a:t>5CSXFC6D6F31C6</a:t>
            </a:r>
          </a:p>
          <a:p>
            <a:r>
              <a:rPr lang="en-ID" sz="2400" dirty="0"/>
              <a:t>Next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9C6DE-D9FF-0D2C-1060-03764457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578" y="1455135"/>
            <a:ext cx="6762541" cy="535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72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3D48-1FB7-D18F-275F-DBACFB958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(7)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BE0F4-23E3-6053-4895-621EC1F7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EDA Tool Setting</a:t>
            </a:r>
          </a:p>
          <a:p>
            <a:r>
              <a:rPr lang="en-US" dirty="0"/>
              <a:t>Next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40B04-0915-F2D1-58C6-47728791C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767" y="1410132"/>
            <a:ext cx="6201640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91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6C11-0194-24C7-CCDC-3A80C55D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Project (8)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C5D2A-5235-8A26-1729-AA5B7679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Summary :</a:t>
            </a:r>
          </a:p>
          <a:p>
            <a:r>
              <a:rPr lang="en-US" dirty="0"/>
              <a:t>Make sure like this example</a:t>
            </a:r>
          </a:p>
          <a:p>
            <a:r>
              <a:rPr lang="en-US" dirty="0"/>
              <a:t>Finish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1146B-ACB9-4129-7219-6D710A120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027906"/>
            <a:ext cx="5386821" cy="560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1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A736-F770-ADFE-E203-CC4E39D5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Creating Project Step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F4B5-7936-100D-3566-1F3C80A05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3444B9-4B6B-8C32-437D-4B27D6C7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37" y="1448609"/>
            <a:ext cx="8855958" cy="524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89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5F7F-FDDF-E622-62C3-9AB2F920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Design Files: Verilog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99CB-3EAC-3A53-BDEF-6DB5818FF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5513" cy="4351338"/>
          </a:xfrm>
        </p:spPr>
        <p:txBody>
          <a:bodyPr/>
          <a:lstStyle/>
          <a:p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New</a:t>
            </a:r>
          </a:p>
          <a:p>
            <a:r>
              <a:rPr lang="en-US" dirty="0">
                <a:sym typeface="Wingdings" panose="05000000000000000000" pitchFamily="2" charset="2"/>
              </a:rPr>
              <a:t>Verilog HDL File</a:t>
            </a:r>
          </a:p>
          <a:p>
            <a:r>
              <a:rPr lang="en-US" dirty="0">
                <a:sym typeface="Wingdings" panose="05000000000000000000" pitchFamily="2" charset="2"/>
              </a:rPr>
              <a:t>OK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E9FF2-2F97-2913-28C3-4757113B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713" y="1281018"/>
            <a:ext cx="6737024" cy="54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69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1AFFE-1F49-52E6-E188-72B2024E1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Design Files: Verilog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A2E6A-6B0C-505C-0AE2-8228818A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85009" cy="4351338"/>
          </a:xfrm>
        </p:spPr>
        <p:txBody>
          <a:bodyPr/>
          <a:lstStyle/>
          <a:p>
            <a:r>
              <a:rPr lang="en-US" dirty="0"/>
              <a:t>In the Editor windows,  add :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10116F-E684-28B2-31EA-850D1C3FFAF2}"/>
              </a:ext>
            </a:extLst>
          </p:cNvPr>
          <p:cNvSpPr txBox="1"/>
          <p:nvPr/>
        </p:nvSpPr>
        <p:spPr>
          <a:xfrm>
            <a:off x="1052837" y="2913219"/>
            <a:ext cx="3248025" cy="23083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D" dirty="0"/>
              <a:t>module project1 ( </a:t>
            </a:r>
          </a:p>
          <a:p>
            <a:r>
              <a:rPr lang="en-ID" dirty="0"/>
              <a:t>	input wire a, </a:t>
            </a:r>
          </a:p>
          <a:p>
            <a:r>
              <a:rPr lang="en-ID" dirty="0"/>
              <a:t>	input wire b, </a:t>
            </a:r>
          </a:p>
          <a:p>
            <a:r>
              <a:rPr lang="en-ID" dirty="0"/>
              <a:t>	output wire y </a:t>
            </a:r>
          </a:p>
          <a:p>
            <a:r>
              <a:rPr lang="en-ID" dirty="0"/>
              <a:t>); </a:t>
            </a:r>
          </a:p>
          <a:p>
            <a:r>
              <a:rPr lang="en-ID" dirty="0"/>
              <a:t>	assign y = a &amp; b;</a:t>
            </a:r>
          </a:p>
          <a:p>
            <a:endParaRPr lang="en-ID" dirty="0"/>
          </a:p>
          <a:p>
            <a:r>
              <a:rPr lang="en-ID" dirty="0"/>
              <a:t> </a:t>
            </a:r>
            <a:r>
              <a:rPr lang="en-ID" dirty="0" err="1"/>
              <a:t>endmodule</a:t>
            </a:r>
            <a:endParaRPr lang="en-ID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9F751F-6814-0AA0-0CAD-093813852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209" y="1690688"/>
            <a:ext cx="7226643" cy="488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131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6A93-8D51-778B-AA5B-5498BB228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A0024-A0B1-96B4-0C0F-FD86D29C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3350" cy="4351338"/>
          </a:xfrm>
        </p:spPr>
        <p:txBody>
          <a:bodyPr/>
          <a:lstStyle/>
          <a:p>
            <a:r>
              <a:rPr lang="en-US" dirty="0"/>
              <a:t>File </a:t>
            </a:r>
            <a:r>
              <a:rPr lang="en-US" dirty="0">
                <a:sym typeface="Wingdings" panose="05000000000000000000" pitchFamily="2" charset="2"/>
              </a:rPr>
              <a:t> Save As</a:t>
            </a:r>
          </a:p>
          <a:p>
            <a:r>
              <a:rPr lang="en-US" dirty="0">
                <a:sym typeface="Wingdings" panose="05000000000000000000" pitchFamily="2" charset="2"/>
              </a:rPr>
              <a:t>project1.v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Then :</a:t>
            </a:r>
          </a:p>
          <a:p>
            <a:r>
              <a:rPr lang="en-US" dirty="0">
                <a:sym typeface="Wingdings" panose="05000000000000000000" pitchFamily="2" charset="2"/>
              </a:rPr>
              <a:t>Project  Add Current File to Project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743B4-750F-8FE6-A85C-9F8F12BEA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1177925"/>
            <a:ext cx="5539097" cy="3734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F175E4-FABB-5780-0C88-4802E272D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775" y="5220581"/>
            <a:ext cx="4429743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29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1777-DD86-BCA6-D9ED-E5CE92B8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&amp; Synthesis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FD3AE-0BF5-577F-C6D6-0B62A04E5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3888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Set Top Level :</a:t>
            </a:r>
          </a:p>
          <a:p>
            <a:r>
              <a:rPr lang="en-US" dirty="0"/>
              <a:t>Change Hierarchy to Files</a:t>
            </a:r>
          </a:p>
          <a:p>
            <a:r>
              <a:rPr lang="en-US" dirty="0"/>
              <a:t>In project1.v &gt; right-click &gt; Set as Top Level ….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Analysis &amp; Synthesis :</a:t>
            </a:r>
            <a:endParaRPr lang="en-ID" dirty="0"/>
          </a:p>
          <a:p>
            <a:r>
              <a:rPr lang="en-ID" dirty="0"/>
              <a:t>below “Compile Design”</a:t>
            </a:r>
          </a:p>
          <a:p>
            <a:r>
              <a:rPr lang="en-ID" dirty="0"/>
              <a:t>Right-Click at “Analysis &amp; Synthesis” </a:t>
            </a:r>
            <a:r>
              <a:rPr lang="en-ID" dirty="0">
                <a:sym typeface="Wingdings" panose="05000000000000000000" pitchFamily="2" charset="2"/>
              </a:rPr>
              <a:t> Start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11DF6-217F-EEF1-9A3F-B77E44D1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824" y="1361745"/>
            <a:ext cx="2753540" cy="1928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AB1E4-83C9-1F75-3C95-84CCDB2B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225" y="1361745"/>
            <a:ext cx="2993895" cy="1928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C34CE7-516C-5D7F-E1E1-36D12127E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803" y="3751245"/>
            <a:ext cx="3305637" cy="303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44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F1AF-1DC2-463C-B1CD-1874B3400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Assignment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AD189-05BC-2C28-22E2-513BF4428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Assignments </a:t>
            </a:r>
            <a:r>
              <a:rPr lang="en-US" dirty="0">
                <a:sym typeface="Wingdings" panose="05000000000000000000" pitchFamily="2" charset="2"/>
              </a:rPr>
              <a:t> Pin Planner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There are your input-output port</a:t>
            </a:r>
          </a:p>
          <a:p>
            <a:r>
              <a:rPr lang="en-US" dirty="0">
                <a:sym typeface="Wingdings" panose="05000000000000000000" pitchFamily="2" charset="2"/>
              </a:rPr>
              <a:t>Fill in the “location”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  pin_AB30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b  pin_Y27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y  pin_AA24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Press enter after each line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File  close (close the Pin Planner)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8C2BDE-F77E-45A8-4654-77196425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99" y="1027906"/>
            <a:ext cx="5050107" cy="4067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220793-E843-40F5-6F86-F7AD34529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229914"/>
            <a:ext cx="5639587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91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C2AA-FF00-A9DB-B860-860DA6474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Design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29F05-FBA3-5D5C-F9FE-A961595F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53918" cy="4351338"/>
          </a:xfrm>
        </p:spPr>
        <p:txBody>
          <a:bodyPr/>
          <a:lstStyle/>
          <a:p>
            <a:r>
              <a:rPr lang="en-US" dirty="0"/>
              <a:t>Processing </a:t>
            </a:r>
            <a:r>
              <a:rPr lang="en-US" dirty="0">
                <a:sym typeface="Wingdings" panose="05000000000000000000" pitchFamily="2" charset="2"/>
              </a:rPr>
              <a:t> Start Compilation</a:t>
            </a:r>
          </a:p>
          <a:p>
            <a:r>
              <a:rPr lang="en-US" dirty="0">
                <a:sym typeface="Wingdings" panose="05000000000000000000" pitchFamily="2" charset="2"/>
              </a:rPr>
              <a:t>Or</a:t>
            </a:r>
          </a:p>
          <a:p>
            <a:r>
              <a:rPr lang="en-US" dirty="0">
                <a:sym typeface="Wingdings" panose="05000000000000000000" pitchFamily="2" charset="2"/>
              </a:rPr>
              <a:t>Right-Click in “Compile Design” &gt; Start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BD196-A8EA-9347-8F0B-7C86424B0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723" y="1690688"/>
            <a:ext cx="4629796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3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EBEEE-192B-2CBC-871B-F9CF82DF6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the FPGA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7E2A-393E-A87E-D524-6ED672B39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734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Connect your Board to PC and power</a:t>
            </a:r>
          </a:p>
          <a:p>
            <a:r>
              <a:rPr lang="en-US" dirty="0"/>
              <a:t>Power up the board</a:t>
            </a:r>
          </a:p>
          <a:p>
            <a:endParaRPr lang="en-US" dirty="0"/>
          </a:p>
          <a:p>
            <a:r>
              <a:rPr lang="en-US" dirty="0"/>
              <a:t>Tools </a:t>
            </a:r>
            <a:r>
              <a:rPr lang="en-US" dirty="0">
                <a:sym typeface="Wingdings" panose="05000000000000000000" pitchFamily="2" charset="2"/>
              </a:rPr>
              <a:t> Programmer</a:t>
            </a:r>
          </a:p>
          <a:p>
            <a:r>
              <a:rPr lang="en-US" dirty="0">
                <a:sym typeface="Wingdings" panose="05000000000000000000" pitchFamily="2" charset="2"/>
              </a:rPr>
              <a:t>Auto Detect  choose “5CSXFC6D6”</a:t>
            </a:r>
          </a:p>
          <a:p>
            <a:r>
              <a:rPr lang="en-US" dirty="0">
                <a:sym typeface="Wingdings" panose="05000000000000000000" pitchFamily="2" charset="2"/>
              </a:rPr>
              <a:t>OK</a:t>
            </a:r>
          </a:p>
          <a:p>
            <a:r>
              <a:rPr lang="en-US" dirty="0">
                <a:sym typeface="Wingdings" panose="05000000000000000000" pitchFamily="2" charset="2"/>
              </a:rPr>
              <a:t>YES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A0ECB-47F6-859E-1DB1-DF6826683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557" y="1314869"/>
            <a:ext cx="5105964" cy="5372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68357C-E777-2A3F-2B04-D3D77A929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772" y="3923165"/>
            <a:ext cx="2109672" cy="284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75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319C-4433-713D-F802-A07F8BDA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39A64-C050-4D2E-1D8F-BD6DF9930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8248" cy="4351338"/>
          </a:xfrm>
        </p:spPr>
        <p:txBody>
          <a:bodyPr/>
          <a:lstStyle/>
          <a:p>
            <a:r>
              <a:rPr lang="en-US" dirty="0"/>
              <a:t>In File for 5csx… device </a:t>
            </a:r>
            <a:r>
              <a:rPr lang="en-US" dirty="0">
                <a:sym typeface="Wingdings" panose="05000000000000000000" pitchFamily="2" charset="2"/>
              </a:rPr>
              <a:t> double click</a:t>
            </a:r>
          </a:p>
          <a:p>
            <a:r>
              <a:rPr lang="en-US" dirty="0">
                <a:sym typeface="Wingdings" panose="05000000000000000000" pitchFamily="2" charset="2"/>
              </a:rPr>
              <a:t>Choose Output_files folder</a:t>
            </a:r>
          </a:p>
          <a:p>
            <a:r>
              <a:rPr lang="en-US" dirty="0">
                <a:sym typeface="Wingdings" panose="05000000000000000000" pitchFamily="2" charset="2"/>
              </a:rPr>
              <a:t>Choose project1.sof</a:t>
            </a:r>
          </a:p>
          <a:p>
            <a:r>
              <a:rPr lang="en-US" dirty="0">
                <a:sym typeface="Wingdings" panose="05000000000000000000" pitchFamily="2" charset="2"/>
              </a:rPr>
              <a:t>Open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B146B-EA9B-850D-7F37-2FDD8425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448" y="1027906"/>
            <a:ext cx="6307305" cy="48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87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90FC6-7F2C-E9A8-9EE9-FB471659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FCBAA-4C7A-6857-BDFA-4321983C1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24105" cy="4351338"/>
          </a:xfrm>
        </p:spPr>
        <p:txBody>
          <a:bodyPr/>
          <a:lstStyle/>
          <a:p>
            <a:r>
              <a:rPr lang="en-US" dirty="0"/>
              <a:t>Check Program/Configure</a:t>
            </a:r>
          </a:p>
          <a:p>
            <a:r>
              <a:rPr lang="en-US" dirty="0"/>
              <a:t>Click Start</a:t>
            </a:r>
          </a:p>
          <a:p>
            <a:endParaRPr lang="en-US" dirty="0"/>
          </a:p>
          <a:p>
            <a:r>
              <a:rPr lang="en-US" dirty="0"/>
              <a:t>If success, progress bar will be green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65CFA-8CA5-2A04-7EEE-7E8840093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305" y="1148163"/>
            <a:ext cx="7487695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45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A3816-4ADE-15C6-9405-34809C69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the Board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94C2-9643-ECBA-B622-EC5A57F51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84525" cy="4351338"/>
          </a:xfrm>
        </p:spPr>
        <p:txBody>
          <a:bodyPr/>
          <a:lstStyle/>
          <a:p>
            <a:r>
              <a:rPr lang="en-US" dirty="0"/>
              <a:t>Change the SW0 &amp; SW1</a:t>
            </a:r>
          </a:p>
          <a:p>
            <a:r>
              <a:rPr lang="en-US" dirty="0"/>
              <a:t>See what happen in the LED-RED-0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4D88D-24E0-6987-B9A6-F7B0096C5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444" y="1580156"/>
            <a:ext cx="7687293" cy="511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5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D0F73-2F3D-0D72-3EF5-1FCA1881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Blinking LED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107CF-5E4C-C92D-F648-FED6BC02F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1785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C983-AC7D-7EA5-4A00-38D47345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Project : Blinking 1 LED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BD5B7-551B-2C7B-9F6E-AFCA19C06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project setting as before</a:t>
            </a:r>
          </a:p>
          <a:p>
            <a:r>
              <a:rPr lang="en-US" dirty="0"/>
              <a:t>Different Verilog</a:t>
            </a:r>
          </a:p>
          <a:p>
            <a:r>
              <a:rPr lang="en-US" dirty="0"/>
              <a:t>Different pin assignment </a:t>
            </a:r>
            <a:r>
              <a:rPr lang="en-US" dirty="0">
                <a:sym typeface="Wingdings" panose="05000000000000000000" pitchFamily="2" charset="2"/>
              </a:rPr>
              <a:t> additional CLK pin</a:t>
            </a:r>
          </a:p>
          <a:p>
            <a:r>
              <a:rPr lang="en-US" dirty="0">
                <a:sym typeface="Wingdings" panose="05000000000000000000" pitchFamily="2" charset="2"/>
              </a:rPr>
              <a:t>Test</a:t>
            </a:r>
          </a:p>
          <a:p>
            <a:r>
              <a:rPr lang="en-US" dirty="0">
                <a:sym typeface="Wingdings" panose="05000000000000000000" pitchFamily="2" charset="2"/>
              </a:rPr>
              <a:t>Create your own creation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16530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DE87-6D62-AD6A-DE60-E6973FFA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Verilog of Blinking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DBE4-D81B-B6AA-5362-6B7222A2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375"/>
            <a:ext cx="10515600" cy="470058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module blink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input  wire clk,     // 50 MHz clock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output reg led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</a:t>
            </a:r>
            <a:r>
              <a:rPr lang="en-ID" sz="1400" dirty="0" err="1">
                <a:latin typeface="Consolas" panose="020B0609020204030204" pitchFamily="49" charset="0"/>
              </a:rPr>
              <a:t>localparam</a:t>
            </a:r>
            <a:r>
              <a:rPr lang="en-ID" sz="1400" dirty="0">
                <a:latin typeface="Consolas" panose="020B0609020204030204" pitchFamily="49" charset="0"/>
              </a:rPr>
              <a:t> integer HALF_PERIOD = 25_000_000; // 50,000,000 Hz / 2 = 25,000,000 cycles per half-period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reg [24:0] counter = 0; // 25 bits: max count needed is 24,999,999 (fits in 25 bits)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always @(posedge clk)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if (counter == HALF_PERIOD - 1)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    counter &lt;= 25'd0;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    led     &lt;= ~led;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end else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    counter &lt;= counter + 1'b1;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    end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>
                <a:latin typeface="Consolas" panose="020B0609020204030204" pitchFamily="49" charset="0"/>
              </a:rPr>
              <a:t>    end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D" sz="14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D" sz="1400" dirty="0" err="1">
                <a:latin typeface="Consolas" panose="020B0609020204030204" pitchFamily="49" charset="0"/>
              </a:rPr>
              <a:t>endmodule</a:t>
            </a:r>
            <a:endParaRPr lang="en-ID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6806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E958-D8A2-FB8F-6A80-E446A3A0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Planner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F8E2-2358-FCD3-EF0A-9E3007ED9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clk and led port</a:t>
            </a:r>
          </a:p>
          <a:p>
            <a:r>
              <a:rPr lang="en-US" dirty="0"/>
              <a:t>Set the location to :</a:t>
            </a:r>
          </a:p>
          <a:p>
            <a:pPr marL="0" indent="0">
              <a:buNone/>
            </a:pPr>
            <a:r>
              <a:rPr lang="en-US" dirty="0"/>
              <a:t>Clk </a:t>
            </a:r>
            <a:r>
              <a:rPr lang="en-US" dirty="0">
                <a:sym typeface="Wingdings" panose="05000000000000000000" pitchFamily="2" charset="2"/>
              </a:rPr>
              <a:t> pin_AF14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Led  pin_AB23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826402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B5382-2EF9-87E3-8520-63AA57CFA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the FPGA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F3AD-EBB5-AC52-F12B-9E422DEC0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just like previous project</a:t>
            </a:r>
          </a:p>
          <a:p>
            <a:r>
              <a:rPr lang="en-US" dirty="0"/>
              <a:t>See what happen to the board</a:t>
            </a:r>
          </a:p>
          <a:p>
            <a:pPr marL="0" indent="0">
              <a:buNone/>
            </a:pPr>
            <a:endParaRPr lang="en-US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312851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61538-E47C-4BFE-CA52-DAE702F49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Multi-LED blink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9605F-6D61-E629-E478-351F60D11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5802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DDE0A-C237-3E12-B8A8-80FE3D9C7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Multi-LED blink Verilog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82C0A-B398-F4F9-B4B4-72CFD37D5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39115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module project1 (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input  wire clk,     // 50 MHz clock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input  wire </a:t>
            </a:r>
            <a:r>
              <a:rPr lang="en-US" sz="1400" dirty="0" err="1"/>
              <a:t>rst_n</a:t>
            </a:r>
            <a:r>
              <a:rPr lang="en-US" sz="1400" dirty="0"/>
              <a:t>,   // active-low reset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output wire [3:0] led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	</a:t>
            </a:r>
            <a:r>
              <a:rPr lang="en-US" sz="1400" dirty="0" err="1"/>
              <a:t>localparam</a:t>
            </a:r>
            <a:r>
              <a:rPr lang="en-US" sz="1400" dirty="0"/>
              <a:t> integer HALF_PERIOD = 25_000_000; // 50,000,000 Hz / 2 = 25,000,000 cycles per half-period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	 reg [24:0] counter = 0; // 25 bits: max count needed is 24,999,999 (fits in 25 bits)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	 reg [3:0] </a:t>
            </a:r>
            <a:r>
              <a:rPr lang="en-US" sz="1400" dirty="0" err="1"/>
              <a:t>count_out</a:t>
            </a:r>
            <a:r>
              <a:rPr lang="en-US" sz="1400" dirty="0"/>
              <a:t> = 0;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	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always @(posedge clk or </a:t>
            </a:r>
            <a:r>
              <a:rPr lang="en-US" sz="1400" dirty="0" err="1"/>
              <a:t>negedge</a:t>
            </a:r>
            <a:r>
              <a:rPr lang="en-US" sz="1400" dirty="0"/>
              <a:t> </a:t>
            </a:r>
            <a:r>
              <a:rPr lang="en-US" sz="1400" dirty="0" err="1"/>
              <a:t>rst_n</a:t>
            </a:r>
            <a:r>
              <a:rPr lang="en-US" sz="1400" dirty="0"/>
              <a:t>)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if (!</a:t>
            </a:r>
            <a:r>
              <a:rPr lang="en-US" sz="1400" dirty="0" err="1"/>
              <a:t>rst_n</a:t>
            </a:r>
            <a:r>
              <a:rPr lang="en-US" sz="1400" dirty="0"/>
              <a:t>)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 counter &lt;= 25'd0;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count_out</a:t>
            </a:r>
            <a:r>
              <a:rPr lang="en-US" sz="1400" dirty="0"/>
              <a:t> &lt;= 4'd0;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end else if (counter == HALF_PERIOD - 1)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 counter &lt;= 25'd0;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count_out</a:t>
            </a:r>
            <a:r>
              <a:rPr lang="en-US" sz="1400" dirty="0"/>
              <a:t> &lt;= </a:t>
            </a:r>
            <a:r>
              <a:rPr lang="en-US" sz="1400" dirty="0" err="1"/>
              <a:t>count_out</a:t>
            </a:r>
            <a:r>
              <a:rPr lang="en-US" sz="1400" dirty="0"/>
              <a:t> + 1'b1;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end else begin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    counter &lt;= counter + 1'b1;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  end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end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assign led = </a:t>
            </a:r>
            <a:r>
              <a:rPr lang="en-US" sz="1400" dirty="0" err="1"/>
              <a:t>count_out</a:t>
            </a:r>
            <a:r>
              <a:rPr lang="en-US" sz="1400" dirty="0"/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 err="1"/>
              <a:t>endmodule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057915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6D479-4D0E-0914-DA49-CA5969CF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Board’s Pin Assignment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D35F6-E652-6336-ED03-7100C7A1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7425"/>
            <a:ext cx="10515600" cy="352425"/>
          </a:xfrm>
        </p:spPr>
        <p:txBody>
          <a:bodyPr>
            <a:normAutofit fontScale="77500" lnSpcReduction="20000"/>
          </a:bodyPr>
          <a:lstStyle/>
          <a:p>
            <a:r>
              <a:rPr lang="en-ID" dirty="0"/>
              <a:t>DE10-Standard Manual </a:t>
            </a:r>
            <a:r>
              <a:rPr lang="en-ID" dirty="0">
                <a:sym typeface="Wingdings" panose="05000000000000000000" pitchFamily="2" charset="2"/>
              </a:rPr>
              <a:t> </a:t>
            </a:r>
            <a:r>
              <a:rPr lang="en-ID" dirty="0"/>
              <a:t>https://github.com/rizki-ap/VLSI/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3AF65-7756-B423-63DD-D781855D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642" y="3341614"/>
            <a:ext cx="6759634" cy="2610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B5EFF-0B45-FA4C-A7B6-BACF1665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183" y="1972235"/>
            <a:ext cx="6759634" cy="13519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1F379E-1791-50AB-5DC7-66C1C89A27C0}"/>
              </a:ext>
            </a:extLst>
          </p:cNvPr>
          <p:cNvSpPr txBox="1">
            <a:spLocks/>
          </p:cNvSpPr>
          <p:nvPr/>
        </p:nvSpPr>
        <p:spPr>
          <a:xfrm>
            <a:off x="838200" y="1504660"/>
            <a:ext cx="10515600" cy="352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Now we have new reset button</a:t>
            </a:r>
          </a:p>
        </p:txBody>
      </p:sp>
    </p:spTree>
    <p:extLst>
      <p:ext uri="{BB962C8B-B14F-4D97-AF65-F5344CB8AC3E}">
        <p14:creationId xmlns:p14="http://schemas.microsoft.com/office/powerpoint/2010/main" val="3297109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585B-EE1E-B472-44A4-6DBE452A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Project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0689F-319D-A725-CC11-7D52400D5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: 4 switch Button</a:t>
            </a:r>
          </a:p>
          <a:p>
            <a:r>
              <a:rPr lang="en-US" dirty="0"/>
              <a:t>Output : 7-segment led</a:t>
            </a:r>
          </a:p>
          <a:p>
            <a:r>
              <a:rPr lang="en-US" dirty="0"/>
              <a:t>Use AI to help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643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770</Words>
  <Application>Microsoft Office PowerPoint</Application>
  <PresentationFormat>Widescreen</PresentationFormat>
  <Paragraphs>164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Consolas</vt:lpstr>
      <vt:lpstr>Wingdings</vt:lpstr>
      <vt:lpstr>Office Theme</vt:lpstr>
      <vt:lpstr>PowerPoint Presentation</vt:lpstr>
      <vt:lpstr>Steps in Quartus FPGA Design</vt:lpstr>
      <vt:lpstr>Creating Project (1)</vt:lpstr>
      <vt:lpstr>Creating Project (2)</vt:lpstr>
      <vt:lpstr>Creating Project (3)</vt:lpstr>
      <vt:lpstr>Creating Project (4)</vt:lpstr>
      <vt:lpstr>Creating Project (5)</vt:lpstr>
      <vt:lpstr>Creating Project (6)</vt:lpstr>
      <vt:lpstr>Creating Project (7)</vt:lpstr>
      <vt:lpstr>Creating Project (8)</vt:lpstr>
      <vt:lpstr>After Creating Project Step</vt:lpstr>
      <vt:lpstr>Creating Design Files: Verilog </vt:lpstr>
      <vt:lpstr>Creating Design Files: Verilog </vt:lpstr>
      <vt:lpstr>PowerPoint Presentation</vt:lpstr>
      <vt:lpstr>Analysis &amp; Synthesis</vt:lpstr>
      <vt:lpstr>Pin Assignment</vt:lpstr>
      <vt:lpstr>Compile Design</vt:lpstr>
      <vt:lpstr>Programming the FPGA</vt:lpstr>
      <vt:lpstr>PowerPoint Presentation</vt:lpstr>
      <vt:lpstr>PowerPoint Presentation</vt:lpstr>
      <vt:lpstr>Try the Board</vt:lpstr>
      <vt:lpstr>Blinking LED</vt:lpstr>
      <vt:lpstr>New Project : Blinking 1 LED</vt:lpstr>
      <vt:lpstr>Verilog of Blinking</vt:lpstr>
      <vt:lpstr>Pin Planner</vt:lpstr>
      <vt:lpstr>Program the FPGA </vt:lpstr>
      <vt:lpstr>Multi-LED blink</vt:lpstr>
      <vt:lpstr>Multi-LED blink Verilog</vt:lpstr>
      <vt:lpstr>Board’s Pin Assignment</vt:lpstr>
      <vt:lpstr>Another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RIZKI ARDIANTO PRIRAMADHI</dc:creator>
  <cp:lastModifiedBy>RIZKI ARDIANTO PRIRAMADHI</cp:lastModifiedBy>
  <cp:revision>11</cp:revision>
  <dcterms:created xsi:type="dcterms:W3CDTF">2026-09-17T22:08:23Z</dcterms:created>
  <dcterms:modified xsi:type="dcterms:W3CDTF">2026-09-18T02:27:03Z</dcterms:modified>
</cp:coreProperties>
</file>