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95" r:id="rId3"/>
    <p:sldId id="296" r:id="rId4"/>
    <p:sldId id="297" r:id="rId5"/>
    <p:sldId id="285" r:id="rId6"/>
    <p:sldId id="279" r:id="rId7"/>
    <p:sldId id="257" r:id="rId8"/>
    <p:sldId id="258" r:id="rId9"/>
    <p:sldId id="278" r:id="rId10"/>
    <p:sldId id="280" r:id="rId11"/>
    <p:sldId id="260" r:id="rId12"/>
    <p:sldId id="286" r:id="rId13"/>
    <p:sldId id="281" r:id="rId14"/>
    <p:sldId id="261" r:id="rId15"/>
    <p:sldId id="282" r:id="rId16"/>
    <p:sldId id="283" r:id="rId17"/>
    <p:sldId id="284" r:id="rId18"/>
    <p:sldId id="299" r:id="rId19"/>
    <p:sldId id="300" r:id="rId20"/>
    <p:sldId id="301" r:id="rId21"/>
    <p:sldId id="305" r:id="rId22"/>
    <p:sldId id="302" r:id="rId23"/>
    <p:sldId id="303" r:id="rId24"/>
    <p:sldId id="30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751E-8BD5-DD4A-AE1A-1F7B47EEA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39CE2F-7599-D23A-9C5C-93DA30E0B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F9D14-6A3F-29F6-FE82-58EC6CB9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D3B3-F4AF-4E82-B784-7993727865CE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B68DA-E864-5E10-2967-A99A995D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EB441-4DDA-646A-ED60-C12A101A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0331-8898-4DE4-BB4D-2051AC7220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552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0831-1582-3765-CC5D-472DC07F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E7FCC-0563-B1EF-598D-8AF7ED5B4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37ADC-2D17-789F-0B50-854752FE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D3B3-F4AF-4E82-B784-7993727865CE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DCB1E-8427-1C42-888D-50209DCB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B3ED6-0442-B99F-3C42-201B79AFF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0331-8898-4DE4-BB4D-2051AC7220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7565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8828E-4D79-D895-A9A0-D29C5955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85D34-DC10-B110-CD79-77B764D40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F2C54-FB05-E232-9B45-4746699D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D3B3-F4AF-4E82-B784-7993727865CE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A5716-BE7E-F743-AE1E-D045F2F10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45419-DFA3-4C18-5E64-9C8D9A80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0331-8898-4DE4-BB4D-2051AC7220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538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E3FE-BC28-8E8A-3F50-E0E50501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0DAD7-A09A-7F68-BF28-2CF368BFB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28A6D-E282-72BA-56CC-19D12030E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20D28-2625-7D71-0341-2D27749E9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D3B3-F4AF-4E82-B784-7993727865CE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2147B-34C9-B353-9768-A2422FBF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B4F4A-8788-488C-03E3-EB71EE232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0331-8898-4DE4-BB4D-2051AC7220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3177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CAC9-83D4-D778-8E9B-019262B31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A7A13-3DAB-EAFC-6D0A-2D5C6F596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C79E5-BFF1-8AA6-AD07-B063A9CB3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05B747-65C9-3576-2FE9-977DD7F6C7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F12C67-12F2-0649-19F4-33ADE171D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3FE881-9CA5-45E3-D392-B6585CFE0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D3B3-F4AF-4E82-B784-7993727865CE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B1A07-00D6-5AF9-CFC1-E33DAFD9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3BFCD-BC32-215E-1DC5-EA5146BA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0331-8898-4DE4-BB4D-2051AC7220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238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E52EE-224E-08ED-BE2B-6BD0006F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6FAB7-9292-F039-59AB-7529C24C4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D3B3-F4AF-4E82-B784-7993727865CE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BB4FE-450A-BABD-8ABD-50D03878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44B2C-8F26-AADC-4F72-8A85A2AB3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0331-8898-4DE4-BB4D-2051AC7220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0888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B2D124-31B9-8933-CCF3-28AA06FCA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D3B3-F4AF-4E82-B784-7993727865CE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04BE84-401F-3C91-132B-3FBE0073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67154-7379-5730-ECB5-2D95964FD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0331-8898-4DE4-BB4D-2051AC7220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67034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AAFC-DD34-27DA-974F-41D0F99F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138DB-F922-07A4-1D15-521EF2A6D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0ECA9-33CF-CD33-4ED8-C99BA71A5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2A261-7EE0-849D-2542-B56F43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D3B3-F4AF-4E82-B784-7993727865CE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74280-587F-9238-283E-B5574BD32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2A43F-E87A-2ADD-512D-A09FF12E7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0331-8898-4DE4-BB4D-2051AC7220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7151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5303-7EC1-6113-33FD-7EB64D6C3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427BC-518F-B50A-AF8E-65C19AD24D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706D1-46FF-E2EF-A7B3-44C35A234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5F645-2B93-4429-091D-5AC5ACFD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D3B3-F4AF-4E82-B784-7993727865CE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698BB-30CF-0E39-424A-C1695AF44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5B193-69AC-468E-0E95-9B0E3994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0331-8898-4DE4-BB4D-2051AC7220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6576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1B98-7CC0-78D5-1563-C402CA0BE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EE630-0475-CF9A-C4D3-40FC4AD2D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4303D-5EE6-DB6E-E875-43F8A62FB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D3B3-F4AF-4E82-B784-7993727865CE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88030-C073-B16F-374D-D57B47911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6B81F-4A7C-4ED4-EA1F-C4DB7F91A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0331-8898-4DE4-BB4D-2051AC7220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657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210A0-433B-CD64-7576-3DBFD8D306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0405F-7F3D-BE51-36C8-C3C35DA1C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699E5-035F-4DD3-FB99-1400056F8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D3B3-F4AF-4E82-B784-7993727865CE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612EA-888A-1B5D-4D69-A744B4ED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A0A39-B224-67E6-89BE-EE4E4D6C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0331-8898-4DE4-BB4D-2051AC7220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769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189BD1-90C7-C281-D2AB-A0FA2161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10B4E-9FFB-B591-D076-AB111123B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F2396-5E3A-85DA-07D6-C812E37C89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7D3B3-F4AF-4E82-B784-7993727865CE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6B0A3-0C8D-4990-5888-268F182374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A5FBA-1B4F-4B71-8CB3-064D14232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5D0331-8898-4DE4-BB4D-2051AC7220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746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hatis.techtarget.com/definition/ASIC-application-specific-integrated-circuit" TargetMode="External"/><Relationship Id="rId2" Type="http://schemas.openxmlformats.org/officeDocument/2006/relationships/hyperlink" Target="https://whatis.techtarget.com/definition/field-programmable-gate-array-FPGA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1B1FF-EBB0-5948-9029-E61168465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FPGA &amp; SoC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EF8E2-24C5-6208-80C2-AB192D22F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9876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Dr. Rizki Ardianto Priramadhi</a:t>
            </a:r>
          </a:p>
          <a:p>
            <a:pPr algn="l"/>
            <a:r>
              <a:rPr lang="en-US" dirty="0"/>
              <a:t>Telkom University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Hands-out Session Guest Lecture</a:t>
            </a:r>
          </a:p>
          <a:p>
            <a:pPr algn="l"/>
            <a:r>
              <a:rPr lang="en-US" dirty="0"/>
              <a:t>Coimbatore Institute of Technology</a:t>
            </a:r>
          </a:p>
          <a:p>
            <a:pPr algn="l"/>
            <a:r>
              <a:rPr lang="en-ID" dirty="0"/>
              <a:t>18 Sept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5DB7F-A67A-529E-8599-F0875B443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912" y="1051635"/>
            <a:ext cx="5481988" cy="47850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FCCE19-2A1F-6FA7-F767-8BCA453AA8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28575"/>
            <a:ext cx="1221487" cy="12341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9BA70F-8D69-C69C-BD65-27D54C721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5763" y="133307"/>
            <a:ext cx="1107187" cy="11294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1B3A09-56B0-6AF4-04DD-6CB910311C45}"/>
              </a:ext>
            </a:extLst>
          </p:cNvPr>
          <p:cNvSpPr txBox="1"/>
          <p:nvPr/>
        </p:nvSpPr>
        <p:spPr>
          <a:xfrm>
            <a:off x="7820025" y="5806365"/>
            <a:ext cx="376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DE10-Standard University Program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08431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14F6796-13C6-E584-1D90-A544FDE11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62175" y="274637"/>
            <a:ext cx="6810375" cy="1325563"/>
          </a:xfrm>
        </p:spPr>
        <p:txBody>
          <a:bodyPr/>
          <a:lstStyle/>
          <a:p>
            <a:r>
              <a:rPr lang="en-US" altLang="en-US" dirty="0"/>
              <a:t>Historical Introduction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73695FE-D5D5-E0DC-D863-946BA9582F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0575" y="1600200"/>
            <a:ext cx="10887075" cy="12192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In the beginning, digital design was done with the ’74 series of chips.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Some people would design their own chips based on Gate Arrays, which were nothing else than an array of NAND gates:</a:t>
            </a:r>
          </a:p>
        </p:txBody>
      </p:sp>
      <p:pic>
        <p:nvPicPr>
          <p:cNvPr id="32772" name="Picture 4">
            <a:extLst>
              <a:ext uri="{FF2B5EF4-FFF2-40B4-BE49-F238E27FC236}">
                <a16:creationId xmlns:a16="http://schemas.microsoft.com/office/drawing/2014/main" id="{DE7B2701-1B31-CFE8-AB62-7745DF877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1" y="3048000"/>
            <a:ext cx="4816475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0B35F3B-854D-7273-D977-AA75433626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7474" y="365125"/>
            <a:ext cx="8696325" cy="1325563"/>
          </a:xfrm>
        </p:spPr>
        <p:txBody>
          <a:bodyPr/>
          <a:lstStyle/>
          <a:p>
            <a:r>
              <a:rPr lang="en-US" altLang="en-US" dirty="0"/>
              <a:t>Historical Introduction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AAAFF50-739B-BAD2-0B9A-31AD0B953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1525" y="1600200"/>
            <a:ext cx="10944225" cy="16764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80000"/>
              </a:lnSpc>
            </a:pPr>
            <a:r>
              <a:rPr lang="en-US" altLang="en-US" sz="2400" dirty="0"/>
              <a:t>The first programmable chips were PLAs (Programmable Logic Arrays): two level structures of AND </a:t>
            </a:r>
            <a:r>
              <a:rPr lang="en-US" altLang="en-US" sz="2400" dirty="0" err="1"/>
              <a:t>and</a:t>
            </a:r>
            <a:r>
              <a:rPr lang="en-US" altLang="en-US" sz="2400" dirty="0"/>
              <a:t> OR gates with user programmable connections.</a:t>
            </a:r>
          </a:p>
          <a:p>
            <a:pPr algn="just">
              <a:lnSpc>
                <a:spcPct val="80000"/>
              </a:lnSpc>
            </a:pPr>
            <a:r>
              <a:rPr lang="en-US" altLang="en-US" sz="2400" dirty="0"/>
              <a:t>Programmable Array Logic devices were an improvement in structure and cost over PLAs. Today such devices are generically called Programmable Logic Devices (PLDs).</a:t>
            </a:r>
          </a:p>
          <a:p>
            <a:pPr algn="just">
              <a:lnSpc>
                <a:spcPct val="80000"/>
              </a:lnSpc>
            </a:pPr>
            <a:endParaRPr lang="en-US" altLang="en-US" sz="2400" dirty="0"/>
          </a:p>
        </p:txBody>
      </p:sp>
      <p:pic>
        <p:nvPicPr>
          <p:cNvPr id="33796" name="Picture 4">
            <a:extLst>
              <a:ext uri="{FF2B5EF4-FFF2-40B4-BE49-F238E27FC236}">
                <a16:creationId xmlns:a16="http://schemas.microsoft.com/office/drawing/2014/main" id="{E026865C-FD5F-6A8C-8A46-8AB52A8B7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51" y="2791109"/>
            <a:ext cx="6010274" cy="3952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4991B59-9D85-532A-C480-E4A81F53AB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33624" y="365125"/>
            <a:ext cx="9020175" cy="1325563"/>
          </a:xfrm>
        </p:spPr>
        <p:txBody>
          <a:bodyPr/>
          <a:lstStyle/>
          <a:p>
            <a:r>
              <a:rPr lang="en-US" altLang="en-US" dirty="0"/>
              <a:t>Historical introduction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A8F707C-FB11-DDB5-EDA0-A16C6A0D06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2450" y="1447800"/>
            <a:ext cx="11163300" cy="15240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80000"/>
              </a:lnSpc>
            </a:pPr>
            <a:r>
              <a:rPr lang="en-US" altLang="en-US" sz="2400" dirty="0"/>
              <a:t>A complex PLD (CPLD) is nothing else than a collection of multiple PLDs and an interconnection structure.</a:t>
            </a:r>
          </a:p>
          <a:p>
            <a:pPr algn="just">
              <a:lnSpc>
                <a:spcPct val="80000"/>
              </a:lnSpc>
            </a:pPr>
            <a:r>
              <a:rPr lang="en-US" altLang="en-US" sz="2400" dirty="0"/>
              <a:t>Compared to a CPLD, a Field Programmable Gate Array (FPGA) contains a much larger number of smaller individual blocks + large interconnection structure that dominates the entire chip.</a:t>
            </a:r>
          </a:p>
        </p:txBody>
      </p:sp>
      <p:pic>
        <p:nvPicPr>
          <p:cNvPr id="39940" name="Picture 4">
            <a:extLst>
              <a:ext uri="{FF2B5EF4-FFF2-40B4-BE49-F238E27FC236}">
                <a16:creationId xmlns:a16="http://schemas.microsoft.com/office/drawing/2014/main" id="{D93746BD-E6C2-F25C-E4C2-82BDAA609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2900463"/>
            <a:ext cx="5829300" cy="3803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65CF-4B9C-FAB0-5E92-7E7BDADD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43EBF-AF3F-6191-D0FF-784928851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95675" cy="4351338"/>
          </a:xfrm>
        </p:spPr>
        <p:txBody>
          <a:bodyPr/>
          <a:lstStyle/>
          <a:p>
            <a:r>
              <a:rPr lang="en-US" dirty="0"/>
              <a:t>Conceptual structure of an FPGA device. 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78CE7-D310-A0A0-0A07-74241290C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900" y="1691472"/>
            <a:ext cx="7182425" cy="46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656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E6BF8-A487-BE67-4D02-1E29659FE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24" y="365125"/>
            <a:ext cx="8829675" cy="1325563"/>
          </a:xfrm>
        </p:spPr>
        <p:txBody>
          <a:bodyPr/>
          <a:lstStyle/>
          <a:p>
            <a:r>
              <a:rPr lang="en-US" dirty="0"/>
              <a:t>FPGA evolution since the 1980s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53F42-10CD-817F-C24F-7FA7FC5DE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440BB-043C-BFE4-A468-D69B239DC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210" y="1571625"/>
            <a:ext cx="6696996" cy="505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77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A250-783A-B488-0080-8C285FC74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674" y="365125"/>
            <a:ext cx="9382125" cy="1325563"/>
          </a:xfrm>
        </p:spPr>
        <p:txBody>
          <a:bodyPr/>
          <a:lstStyle/>
          <a:p>
            <a:r>
              <a:rPr lang="en-US" dirty="0"/>
              <a:t>Programmable vs Fixed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7422A3-25B1-8236-FC9F-5AA6E5E5D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2086" y="1558925"/>
            <a:ext cx="8221585" cy="4794250"/>
          </a:xfrm>
        </p:spPr>
      </p:pic>
    </p:spTree>
    <p:extLst>
      <p:ext uri="{BB962C8B-B14F-4D97-AF65-F5344CB8AC3E}">
        <p14:creationId xmlns:p14="http://schemas.microsoft.com/office/powerpoint/2010/main" val="1304529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B2090-4947-B037-9277-F947F97A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365125"/>
            <a:ext cx="9620250" cy="1325563"/>
          </a:xfrm>
        </p:spPr>
        <p:txBody>
          <a:bodyPr/>
          <a:lstStyle/>
          <a:p>
            <a:r>
              <a:rPr lang="en-US" dirty="0"/>
              <a:t>Computation Hardware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D49E5-7084-3688-F6D5-9CE597994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8846C-66E0-203C-F22F-226F4751D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51" y="1547550"/>
            <a:ext cx="10421324" cy="533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90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1C5F-AFA8-32EB-71A2-4047964D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024" y="365125"/>
            <a:ext cx="9629775" cy="1325563"/>
          </a:xfrm>
        </p:spPr>
        <p:txBody>
          <a:bodyPr/>
          <a:lstStyle/>
          <a:p>
            <a:r>
              <a:rPr lang="en-US" dirty="0"/>
              <a:t>FPGA Application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5E840-A576-4375-E070-7579EC7CD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5675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ASIC prototyping</a:t>
            </a:r>
          </a:p>
          <a:p>
            <a:r>
              <a:rPr lang="en-US" sz="2400" dirty="0"/>
              <a:t>Wired communications: For system development, while the standards themselves are evolving.</a:t>
            </a:r>
          </a:p>
          <a:p>
            <a:r>
              <a:rPr lang="en-US" sz="2400" dirty="0"/>
              <a:t>Wireless communications: DSP in FPGAs is a major attraction for algorithmic computations.</a:t>
            </a:r>
          </a:p>
          <a:p>
            <a:r>
              <a:rPr lang="en-US" sz="2400" dirty="0"/>
              <a:t>Video systems and machine vision: Implement software algorithms at higher speed and lower power.</a:t>
            </a:r>
          </a:p>
          <a:p>
            <a:r>
              <a:rPr lang="en-US" sz="2400" dirty="0"/>
              <a:t>Industrial systems: Communication link between sensor nodes and robotic systems.</a:t>
            </a:r>
          </a:p>
          <a:p>
            <a:r>
              <a:rPr lang="en-US" sz="2400" dirty="0"/>
              <a:t>Medical systems: I/O interfaces including A-to-D and D-to-A conversion.</a:t>
            </a:r>
          </a:p>
          <a:p>
            <a:r>
              <a:rPr lang="en-US" sz="2400" dirty="0"/>
              <a:t>Automotive systems: Video processing (for driver assistance), fi eld upgradability.</a:t>
            </a:r>
          </a:p>
          <a:p>
            <a:r>
              <a:rPr lang="en-US" sz="2400" dirty="0"/>
              <a:t>Military and aerospace: Radio waveform processing and processing of huge amount of sensor data.</a:t>
            </a:r>
          </a:p>
          <a:p>
            <a:r>
              <a:rPr lang="en-US" sz="2400" dirty="0"/>
              <a:t>Data center: Interfaces to SSD (solid-state disks), machine learning related algorithms. 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574943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C2FF7-A4F1-27BF-2DCC-D345DAE5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9917"/>
            <a:ext cx="10515600" cy="1433067"/>
          </a:xfrm>
        </p:spPr>
        <p:txBody>
          <a:bodyPr/>
          <a:lstStyle/>
          <a:p>
            <a:r>
              <a:rPr lang="en-US" dirty="0"/>
              <a:t>System on Chip (SoC)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B67A8-9BFE-B987-B9E1-071D270D3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D789B8-6F7B-291F-9966-113810842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026" y="2167284"/>
            <a:ext cx="6390969" cy="446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67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BC65-FFB1-1132-C986-9D6BC7A7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404" y="365125"/>
            <a:ext cx="9535395" cy="1325563"/>
          </a:xfrm>
        </p:spPr>
        <p:txBody>
          <a:bodyPr>
            <a:normAutofit/>
          </a:bodyPr>
          <a:lstStyle/>
          <a:p>
            <a:r>
              <a:rPr lang="en-US" b="1" i="0" u="none" strike="noStrike" baseline="0" dirty="0">
                <a:solidFill>
                  <a:srgbClr val="445469"/>
                </a:solidFill>
              </a:rPr>
              <a:t>SoC: System on a Chip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59660-6E27-136F-54D8-B909B40AE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u="none" strike="noStrike" baseline="0" dirty="0">
                <a:solidFill>
                  <a:srgbClr val="445469"/>
                </a:solidFill>
              </a:rPr>
              <a:t>An IC that integrates multiple components of a system onto a single chip</a:t>
            </a:r>
          </a:p>
          <a:p>
            <a:pPr algn="l"/>
            <a:r>
              <a:rPr lang="en-US" sz="2400" b="0" i="0" u="none" strike="noStrike" baseline="0" dirty="0">
                <a:solidFill>
                  <a:srgbClr val="445469"/>
                </a:solidFill>
              </a:rPr>
              <a:t>The on-chip integration of variety of functional hardware blocks to suit a </a:t>
            </a:r>
            <a:r>
              <a:rPr lang="en-ID" sz="2400" b="0" i="0" u="none" strike="noStrike" baseline="0" dirty="0">
                <a:solidFill>
                  <a:srgbClr val="445469"/>
                </a:solidFill>
              </a:rPr>
              <a:t>specific product application</a:t>
            </a:r>
          </a:p>
          <a:p>
            <a:pPr algn="l"/>
            <a:r>
              <a:rPr lang="en-US" sz="2400" b="0" i="0" u="none" strike="noStrike" baseline="0" dirty="0">
                <a:solidFill>
                  <a:srgbClr val="445469"/>
                </a:solidFill>
              </a:rPr>
              <a:t>In addition to IC, SoC consists of software and interconnection structure for </a:t>
            </a:r>
            <a:r>
              <a:rPr lang="en-ID" sz="2400" b="0" i="0" u="none" strike="noStrike" baseline="0" dirty="0">
                <a:solidFill>
                  <a:srgbClr val="445469"/>
                </a:solidFill>
              </a:rPr>
              <a:t>integration</a:t>
            </a:r>
          </a:p>
          <a:p>
            <a:pPr algn="l"/>
            <a:r>
              <a:rPr lang="en-US" sz="2400" b="0" i="0" u="none" strike="noStrike" baseline="0" dirty="0">
                <a:solidFill>
                  <a:srgbClr val="445469"/>
                </a:solidFill>
              </a:rPr>
              <a:t>Can be as simple as a basic connectivity chip which combines some mixed-signal and </a:t>
            </a:r>
            <a:r>
              <a:rPr lang="en-ID" sz="2400" b="0" i="0" u="none" strike="noStrike" baseline="0" dirty="0">
                <a:solidFill>
                  <a:srgbClr val="445469"/>
                </a:solidFill>
              </a:rPr>
              <a:t>digital circuitry</a:t>
            </a:r>
          </a:p>
          <a:p>
            <a:pPr algn="l"/>
            <a:r>
              <a:rPr lang="en-US" sz="2400" b="0" i="0" u="none" strike="noStrike" baseline="0" dirty="0">
                <a:solidFill>
                  <a:srgbClr val="445469"/>
                </a:solidFill>
              </a:rPr>
              <a:t>A more complex SoC may include the on-chip integration of an application processor </a:t>
            </a:r>
            <a:r>
              <a:rPr lang="en-ID" sz="2400" b="0" i="0" u="none" strike="noStrike" baseline="0" dirty="0">
                <a:solidFill>
                  <a:srgbClr val="445469"/>
                </a:solidFill>
              </a:rPr>
              <a:t>unit (APU) and a graphics processor unit (GPU)</a:t>
            </a:r>
          </a:p>
          <a:p>
            <a:pPr algn="l"/>
            <a:r>
              <a:rPr lang="en-US" sz="2400" b="0" i="0" u="none" strike="noStrike" baseline="0" dirty="0">
                <a:solidFill>
                  <a:srgbClr val="445469"/>
                </a:solidFill>
              </a:rPr>
              <a:t>More functional SoCs further integrate various other hardware blocks (e.g. Image </a:t>
            </a:r>
            <a:r>
              <a:rPr lang="pt-BR" sz="2400" b="0" i="0" u="none" strike="noStrike" baseline="0" dirty="0">
                <a:solidFill>
                  <a:srgbClr val="445469"/>
                </a:solidFill>
              </a:rPr>
              <a:t>processor, audio/video decoder, and modem)</a:t>
            </a:r>
            <a:endParaRPr lang="en-ID" sz="3600" dirty="0"/>
          </a:p>
        </p:txBody>
      </p:sp>
    </p:spTree>
    <p:extLst>
      <p:ext uri="{BB962C8B-B14F-4D97-AF65-F5344CB8AC3E}">
        <p14:creationId xmlns:p14="http://schemas.microsoft.com/office/powerpoint/2010/main" val="3253925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62640-9242-A90F-2B34-75E7446CB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65125"/>
            <a:ext cx="9144000" cy="1325563"/>
          </a:xfrm>
        </p:spPr>
        <p:txBody>
          <a:bodyPr/>
          <a:lstStyle/>
          <a:p>
            <a:r>
              <a:rPr lang="en-US" dirty="0"/>
              <a:t>FPGA Productivity Gap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1374A-8DA2-FFB1-EFC6-B591686CE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Design Gap: Growth of available Computing Power outperforms the Productivity of System Designers [</a:t>
            </a:r>
            <a:r>
              <a:rPr lang="en-US" sz="2000" dirty="0" err="1"/>
              <a:t>Belanovic</a:t>
            </a:r>
            <a:r>
              <a:rPr lang="en-US" sz="2000" dirty="0"/>
              <a:t> 2003]</a:t>
            </a:r>
            <a:endParaRPr lang="en-ID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EAE425-3C23-8DCF-6861-08A63B00C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946" y="2531780"/>
            <a:ext cx="7277854" cy="37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61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EB6A-38DD-E880-C0E5-DD7E9D433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4074" y="365125"/>
            <a:ext cx="9229725" cy="1325563"/>
          </a:xfrm>
        </p:spPr>
        <p:txBody>
          <a:bodyPr/>
          <a:lstStyle/>
          <a:p>
            <a:r>
              <a:rPr lang="id-ID" altLang="en-US" sz="4400" dirty="0">
                <a:latin typeface="Lato"/>
              </a:rPr>
              <a:t>SoC Platforms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B02F8-56E6-46D7-7153-AF98BB2FB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marR="39362" indent="0">
              <a:lnSpc>
                <a:spcPct val="95825"/>
              </a:lnSpc>
              <a:spcBef>
                <a:spcPts val="1797"/>
              </a:spcBef>
              <a:buNone/>
              <a:tabLst>
                <a:tab pos="3227388" algn="l"/>
              </a:tabLst>
            </a:pPr>
            <a:r>
              <a:rPr lang="en-US" sz="4000" dirty="0">
                <a:cs typeface="Times New Roman"/>
              </a:rPr>
              <a:t>Types</a:t>
            </a:r>
            <a:r>
              <a:rPr lang="id-ID" sz="4000" dirty="0">
                <a:cs typeface="Times New Roman"/>
              </a:rPr>
              <a:t>:</a:t>
            </a:r>
          </a:p>
          <a:p>
            <a:pPr marL="822058" marR="39362">
              <a:lnSpc>
                <a:spcPct val="95825"/>
              </a:lnSpc>
              <a:spcBef>
                <a:spcPts val="1797"/>
              </a:spcBef>
              <a:tabLst>
                <a:tab pos="3227388" algn="l"/>
              </a:tabLst>
            </a:pPr>
            <a:r>
              <a:rPr lang="id-ID" sz="4000" dirty="0">
                <a:cs typeface="Times New Roman"/>
              </a:rPr>
              <a:t>SoC FPGA</a:t>
            </a:r>
          </a:p>
          <a:p>
            <a:pPr marL="1450708" marR="39362" lvl="1">
              <a:lnSpc>
                <a:spcPct val="95825"/>
              </a:lnSpc>
              <a:spcBef>
                <a:spcPts val="1797"/>
              </a:spcBef>
              <a:tabLst>
                <a:tab pos="3227388" algn="l"/>
              </a:tabLst>
            </a:pPr>
            <a:r>
              <a:rPr lang="en-US" sz="3600" dirty="0">
                <a:cs typeface="Times New Roman"/>
              </a:rPr>
              <a:t>Have </a:t>
            </a:r>
            <a:r>
              <a:rPr lang="id-ID" sz="3600" dirty="0">
                <a:cs typeface="Times New Roman"/>
              </a:rPr>
              <a:t>FPGA </a:t>
            </a:r>
            <a:r>
              <a:rPr lang="en-US" sz="3600" dirty="0">
                <a:cs typeface="Times New Roman"/>
              </a:rPr>
              <a:t>part and </a:t>
            </a:r>
            <a:r>
              <a:rPr lang="id-ID" sz="3600" dirty="0">
                <a:cs typeface="Times New Roman"/>
              </a:rPr>
              <a:t>HPS (Hard Processor System)</a:t>
            </a:r>
            <a:r>
              <a:rPr lang="en-US" sz="3600" dirty="0">
                <a:cs typeface="Times New Roman"/>
              </a:rPr>
              <a:t> part</a:t>
            </a:r>
            <a:endParaRPr lang="id-ID" sz="3600" dirty="0">
              <a:cs typeface="Times New Roman"/>
            </a:endParaRPr>
          </a:p>
          <a:p>
            <a:pPr marL="1450708" marR="39362" lvl="1">
              <a:lnSpc>
                <a:spcPct val="95825"/>
              </a:lnSpc>
              <a:spcBef>
                <a:spcPts val="1797"/>
              </a:spcBef>
              <a:tabLst>
                <a:tab pos="3227388" algn="l"/>
              </a:tabLst>
            </a:pPr>
            <a:r>
              <a:rPr lang="en-US" sz="3600" dirty="0">
                <a:cs typeface="Times New Roman"/>
              </a:rPr>
              <a:t>Flexibility in programming</a:t>
            </a:r>
            <a:endParaRPr lang="id-ID" sz="3600" dirty="0">
              <a:cs typeface="Times New Roman"/>
            </a:endParaRPr>
          </a:p>
          <a:p>
            <a:pPr marL="1450708" marR="39362" lvl="1">
              <a:lnSpc>
                <a:spcPct val="95825"/>
              </a:lnSpc>
              <a:spcBef>
                <a:spcPts val="1797"/>
              </a:spcBef>
              <a:tabLst>
                <a:tab pos="3227388" algn="l"/>
              </a:tabLst>
            </a:pPr>
            <a:r>
              <a:rPr lang="en-US" sz="3600" dirty="0">
                <a:cs typeface="Times New Roman"/>
              </a:rPr>
              <a:t>Example</a:t>
            </a:r>
            <a:r>
              <a:rPr lang="id-ID" sz="3600" dirty="0">
                <a:cs typeface="Times New Roman"/>
              </a:rPr>
              <a:t>: Altera DE0 Nano-SoC, Xilinx Zynq 7000</a:t>
            </a:r>
          </a:p>
          <a:p>
            <a:pPr marL="822058" marR="39362">
              <a:lnSpc>
                <a:spcPct val="95825"/>
              </a:lnSpc>
              <a:spcBef>
                <a:spcPts val="1797"/>
              </a:spcBef>
              <a:tabLst>
                <a:tab pos="3227388" algn="l"/>
              </a:tabLst>
            </a:pPr>
            <a:endParaRPr lang="id-ID" sz="4000" dirty="0">
              <a:cs typeface="Times New Roman"/>
            </a:endParaRPr>
          </a:p>
          <a:p>
            <a:pPr marL="822058" marR="39362">
              <a:lnSpc>
                <a:spcPct val="95825"/>
              </a:lnSpc>
              <a:spcBef>
                <a:spcPts val="1797"/>
              </a:spcBef>
              <a:tabLst>
                <a:tab pos="3227388" algn="l"/>
              </a:tabLst>
            </a:pPr>
            <a:r>
              <a:rPr lang="id-ID" sz="4000" dirty="0">
                <a:cs typeface="Times New Roman"/>
              </a:rPr>
              <a:t>Specific SoC Platforms</a:t>
            </a:r>
            <a:endParaRPr lang="id-ID" dirty="0">
              <a:cs typeface="Times New Roman"/>
            </a:endParaRPr>
          </a:p>
          <a:p>
            <a:pPr marL="1450708" marR="39362" lvl="1">
              <a:lnSpc>
                <a:spcPct val="95825"/>
              </a:lnSpc>
              <a:spcBef>
                <a:spcPts val="1797"/>
              </a:spcBef>
              <a:tabLst>
                <a:tab pos="3227388" algn="l"/>
              </a:tabLst>
            </a:pPr>
            <a:r>
              <a:rPr lang="en-US" sz="3600" dirty="0">
                <a:cs typeface="Times New Roman"/>
              </a:rPr>
              <a:t>C</a:t>
            </a:r>
            <a:r>
              <a:rPr lang="id-ID" sz="3600" dirty="0">
                <a:cs typeface="Times New Roman"/>
              </a:rPr>
              <a:t>omersial </a:t>
            </a:r>
            <a:r>
              <a:rPr lang="en-US" sz="3600" dirty="0">
                <a:cs typeface="Times New Roman"/>
              </a:rPr>
              <a:t>and</a:t>
            </a:r>
            <a:r>
              <a:rPr lang="id-ID" sz="3600" dirty="0">
                <a:cs typeface="Times New Roman"/>
              </a:rPr>
              <a:t> spe</a:t>
            </a:r>
            <a:r>
              <a:rPr lang="en-US" sz="3600" dirty="0">
                <a:cs typeface="Times New Roman"/>
              </a:rPr>
              <a:t>c</a:t>
            </a:r>
            <a:r>
              <a:rPr lang="id-ID" sz="3600" dirty="0">
                <a:cs typeface="Times New Roman"/>
              </a:rPr>
              <a:t>ifi</a:t>
            </a:r>
            <a:r>
              <a:rPr lang="en-US" sz="3600" dirty="0">
                <a:cs typeface="Times New Roman"/>
              </a:rPr>
              <a:t>c</a:t>
            </a:r>
            <a:r>
              <a:rPr lang="id-ID" sz="3600" dirty="0">
                <a:cs typeface="Times New Roman"/>
              </a:rPr>
              <a:t>, </a:t>
            </a:r>
            <a:r>
              <a:rPr lang="en-US" sz="3600" dirty="0">
                <a:cs typeface="Times New Roman"/>
              </a:rPr>
              <a:t>already</a:t>
            </a:r>
            <a:r>
              <a:rPr lang="id-ID" sz="3600" dirty="0">
                <a:cs typeface="Times New Roman"/>
              </a:rPr>
              <a:t> chip</a:t>
            </a:r>
            <a:r>
              <a:rPr lang="en-US" sz="3600" dirty="0">
                <a:cs typeface="Times New Roman"/>
              </a:rPr>
              <a:t> </a:t>
            </a:r>
            <a:r>
              <a:rPr lang="en-US" sz="3600" dirty="0" err="1">
                <a:cs typeface="Times New Roman"/>
              </a:rPr>
              <a:t>fprm</a:t>
            </a:r>
            <a:endParaRPr lang="id-ID" sz="3600" dirty="0">
              <a:cs typeface="Times New Roman"/>
            </a:endParaRPr>
          </a:p>
          <a:p>
            <a:pPr marL="1450708" marR="39362" lvl="1">
              <a:lnSpc>
                <a:spcPct val="95825"/>
              </a:lnSpc>
              <a:spcBef>
                <a:spcPts val="1797"/>
              </a:spcBef>
              <a:tabLst>
                <a:tab pos="3227388" algn="l"/>
              </a:tabLst>
            </a:pPr>
            <a:r>
              <a:rPr lang="en-US" sz="3600" dirty="0">
                <a:cs typeface="Times New Roman"/>
              </a:rPr>
              <a:t>Example</a:t>
            </a:r>
            <a:r>
              <a:rPr lang="id-ID" sz="3600" dirty="0">
                <a:cs typeface="Times New Roman"/>
              </a:rPr>
              <a:t>: Apple A11 SoC, Samsung S11 CPU SoC, Siemens, etc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256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DDEA4-C768-232D-48D3-9089418A4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365125"/>
            <a:ext cx="9334500" cy="1325563"/>
          </a:xfrm>
        </p:spPr>
        <p:txBody>
          <a:bodyPr>
            <a:normAutofit/>
          </a:bodyPr>
          <a:lstStyle/>
          <a:p>
            <a:r>
              <a:rPr lang="en-ID" sz="4800" b="0" i="0" u="none" strike="noStrike" baseline="0" dirty="0">
                <a:solidFill>
                  <a:srgbClr val="445469"/>
                </a:solidFill>
              </a:rPr>
              <a:t>SoC Component</a:t>
            </a:r>
            <a:endParaRPr lang="en-ID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5DDC8-B8E6-B81B-46D5-4BC876900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D" b="0" i="0" u="none" strike="noStrike" baseline="0" dirty="0">
                <a:solidFill>
                  <a:srgbClr val="445469"/>
                </a:solidFill>
              </a:rPr>
              <a:t>Programmable </a:t>
            </a:r>
            <a:r>
              <a:rPr lang="en-ID" b="0" i="0" u="none" strike="noStrike" baseline="0" dirty="0" err="1">
                <a:solidFill>
                  <a:srgbClr val="445469"/>
                </a:solidFill>
              </a:rPr>
              <a:t>processore</a:t>
            </a:r>
            <a:r>
              <a:rPr lang="en-ID" b="0" i="0" u="none" strike="noStrike" baseline="0" dirty="0">
                <a:solidFill>
                  <a:srgbClr val="445469"/>
                </a:solidFill>
              </a:rPr>
              <a:t> / CPU Cores</a:t>
            </a:r>
          </a:p>
          <a:p>
            <a:pPr algn="l"/>
            <a:r>
              <a:rPr lang="en-ID" b="0" i="0" u="none" strike="noStrike" baseline="0" dirty="0">
                <a:solidFill>
                  <a:srgbClr val="445469"/>
                </a:solidFill>
              </a:rPr>
              <a:t>On-chip memory</a:t>
            </a:r>
          </a:p>
          <a:p>
            <a:pPr algn="l"/>
            <a:r>
              <a:rPr lang="en-ID" b="0" i="0" u="none" strike="noStrike" baseline="0" dirty="0">
                <a:solidFill>
                  <a:srgbClr val="445469"/>
                </a:solidFill>
              </a:rPr>
              <a:t>On-chip interconnection (busses, network, etc.)</a:t>
            </a:r>
          </a:p>
          <a:p>
            <a:pPr algn="l"/>
            <a:r>
              <a:rPr lang="en-ID" b="0" i="0" u="none" strike="noStrike" baseline="0" dirty="0">
                <a:solidFill>
                  <a:srgbClr val="445469"/>
                </a:solidFill>
              </a:rPr>
              <a:t>Analog Circuit</a:t>
            </a:r>
          </a:p>
          <a:p>
            <a:pPr algn="l"/>
            <a:r>
              <a:rPr lang="en-ID" b="0" i="0" u="none" strike="noStrike" baseline="0" dirty="0">
                <a:solidFill>
                  <a:srgbClr val="445469"/>
                </a:solidFill>
              </a:rPr>
              <a:t>Accelerator or  Hardware module for specific Application</a:t>
            </a:r>
            <a:endParaRPr lang="en-ID" dirty="0">
              <a:solidFill>
                <a:srgbClr val="445469"/>
              </a:solidFill>
            </a:endParaRPr>
          </a:p>
          <a:p>
            <a:pPr algn="l"/>
            <a:r>
              <a:rPr lang="en-ID" b="0" i="0" u="none" strike="noStrike" baseline="0" dirty="0">
                <a:solidFill>
                  <a:srgbClr val="445469"/>
                </a:solidFill>
              </a:rPr>
              <a:t>ASICs logics</a:t>
            </a:r>
          </a:p>
          <a:p>
            <a:pPr algn="l"/>
            <a:r>
              <a:rPr lang="en-ID" b="0" i="0" u="none" strike="noStrike" baseline="0" dirty="0">
                <a:solidFill>
                  <a:srgbClr val="445469"/>
                </a:solidFill>
              </a:rPr>
              <a:t>Software – OS, Application</a:t>
            </a:r>
          </a:p>
          <a:p>
            <a:pPr algn="l"/>
            <a:r>
              <a:rPr lang="en-ID" b="0" i="0" u="none" strike="noStrike" baseline="0" dirty="0">
                <a:solidFill>
                  <a:srgbClr val="445469"/>
                </a:solidFill>
              </a:rPr>
              <a:t>Firmware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2758817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0BB5-3985-912E-181F-7C16FB8BD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850" y="365125"/>
            <a:ext cx="9124950" cy="1325563"/>
          </a:xfrm>
        </p:spPr>
        <p:txBody>
          <a:bodyPr/>
          <a:lstStyle/>
          <a:p>
            <a:r>
              <a:rPr lang="en-US" dirty="0"/>
              <a:t>IP-Core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E8F67-7DF1-8880-5D9A-2CD53577A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id-ID" sz="4400" dirty="0">
                <a:latin typeface="Calibri" charset="0"/>
              </a:rPr>
              <a:t>IP = Intellectual Property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6C6C6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 IP core is a block of logic or data that is used in making a field programmable gate array ( </a:t>
            </a:r>
            <a:r>
              <a:rPr lang="en-US" sz="4000" b="0" i="0" u="sng" dirty="0">
                <a:solidFill>
                  <a:srgbClr val="00B3A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FPGA</a:t>
            </a:r>
            <a:r>
              <a:rPr lang="en-US" sz="4000" b="0" i="0" dirty="0">
                <a:solidFill>
                  <a:srgbClr val="6C6C6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) or application-specific integrated circuit ( </a:t>
            </a:r>
            <a:r>
              <a:rPr lang="en-US" sz="4000" b="0" i="0" u="sng" dirty="0">
                <a:solidFill>
                  <a:srgbClr val="00B3A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ASIC</a:t>
            </a:r>
            <a:r>
              <a:rPr lang="en-US" sz="4000" b="0" i="0" dirty="0">
                <a:solidFill>
                  <a:srgbClr val="6C6C6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) for a product.</a:t>
            </a:r>
            <a:endParaRPr lang="id-ID" sz="6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d-ID" sz="4400" dirty="0">
              <a:latin typeface="Calibri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Utilizing the predesigned modules enables: </a:t>
            </a:r>
          </a:p>
          <a:p>
            <a:pPr marL="1028700" lvl="1" indent="-571500">
              <a:spcBef>
                <a:spcPct val="30000"/>
              </a:spcBef>
              <a:buClr>
                <a:srgbClr val="FF993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avoid reinventing the wheel for every new product, </a:t>
            </a:r>
          </a:p>
          <a:p>
            <a:pPr marL="1028700" lvl="1" indent="-571500">
              <a:spcBef>
                <a:spcPct val="30000"/>
              </a:spcBef>
              <a:buClr>
                <a:srgbClr val="FF993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accelerate the development of new products, </a:t>
            </a:r>
          </a:p>
          <a:p>
            <a:pPr marL="1028700" lvl="1" indent="-571500">
              <a:spcBef>
                <a:spcPct val="30000"/>
              </a:spcBef>
              <a:buClr>
                <a:srgbClr val="FF993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assemble various blocks of a large ASIC/SoC quite rapidly,</a:t>
            </a:r>
          </a:p>
          <a:p>
            <a:pPr marL="1028700" lvl="1" indent="-571500">
              <a:spcBef>
                <a:spcPct val="30000"/>
              </a:spcBef>
              <a:buClr>
                <a:srgbClr val="FF993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reduce the possibility of failure based on design and</a:t>
            </a:r>
            <a:r>
              <a:rPr lang="sr-Latn-CS" sz="4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verification of a block for the first time.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06189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70DD2-E773-68C7-7D28-5995B67EE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900" y="365125"/>
            <a:ext cx="8724900" cy="1325563"/>
          </a:xfrm>
        </p:spPr>
        <p:txBody>
          <a:bodyPr/>
          <a:lstStyle/>
          <a:p>
            <a:r>
              <a:rPr lang="en-US" altLang="en-US" sz="4400" dirty="0">
                <a:latin typeface="Lato"/>
              </a:rPr>
              <a:t>IP</a:t>
            </a:r>
            <a:r>
              <a:rPr lang="id-ID" altLang="en-US" sz="4400" dirty="0">
                <a:latin typeface="Lato"/>
              </a:rPr>
              <a:t> Cores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4E32C-EF98-6775-3B44-785BFEF25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latin typeface="Calibri" charset="0"/>
              </a:rPr>
              <a:t>Subblock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charset="0"/>
              </a:rPr>
              <a:t>A sub-component of a macro, core, or block.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latin typeface="Calibri" charset="0"/>
              </a:rPr>
              <a:t>Hard macro (or core or block)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charset="0"/>
              </a:rPr>
              <a:t>Delivered to the integrator as a GDSII file.  Fully designed, placed, and routed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latin typeface="Calibri" charset="0"/>
              </a:rPr>
              <a:t>Soft macro (or core or block)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charset="0"/>
              </a:rPr>
              <a:t>Delivered to the integrator as RTL code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2800" dirty="0">
              <a:latin typeface="Calibri" charset="0"/>
            </a:endParaRPr>
          </a:p>
          <a:p>
            <a:endParaRPr lang="en-US" dirty="0"/>
          </a:p>
          <a:p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4188718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5B71A-F646-9273-E1C8-CC3630AFE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674" y="365125"/>
            <a:ext cx="9382125" cy="1325563"/>
          </a:xfrm>
        </p:spPr>
        <p:txBody>
          <a:bodyPr/>
          <a:lstStyle/>
          <a:p>
            <a:r>
              <a:rPr lang="id-ID" altLang="en-US" sz="4400" dirty="0">
                <a:latin typeface="Lato"/>
              </a:rPr>
              <a:t>CPU Cores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CD43F-3F94-61D9-6E5F-9A4A6C1E2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7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soft-core processor is a processor implemented using the FPGA fabric.</a:t>
            </a:r>
          </a:p>
          <a:p>
            <a:pPr marL="571500" indent="-571500"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7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hard-core processor is a processor that's actually physically implemented as a structure in the silicon.</a:t>
            </a:r>
          </a:p>
          <a:p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86195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00315-7D07-E7F2-D0E5-9E786B02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Producer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C94EB-4748-01C9-EA1A-5B73889EC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7E0155-1DE4-0FED-E6C4-2583C166E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391" y="1624475"/>
            <a:ext cx="5325218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041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A0783-2FBD-6DC4-A561-43293656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Altera Cyclone-V : FPGA + ARM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230FD-C152-3C30-C847-A251668D0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86E963-B0B8-3B68-A8D1-0B25FF124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348" y="1358900"/>
            <a:ext cx="6807902" cy="523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68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35168-0F74-F904-2C70-84A72A749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HPS in Cyclone-V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FE489-F7C5-3EEB-D145-7A5AB83C5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2C6E0-5EF9-6749-7AC2-44DD30798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101" y="1690688"/>
            <a:ext cx="8463798" cy="455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763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68E0A-4D36-F6CC-F3CB-592683791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DE10-Standar from </a:t>
            </a:r>
            <a:r>
              <a:rPr lang="en-US" dirty="0" err="1"/>
              <a:t>Terasic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26A9-EA46-6DB0-CC24-61144EDF4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6086474"/>
            <a:ext cx="11172825" cy="538163"/>
          </a:xfrm>
        </p:spPr>
        <p:txBody>
          <a:bodyPr>
            <a:normAutofit/>
          </a:bodyPr>
          <a:lstStyle/>
          <a:p>
            <a:r>
              <a:rPr lang="en-ID" sz="1600" dirty="0"/>
              <a:t>https://www.terasic.com.tw/cgi-bin/page/archive.pl?Language=English&amp;CategoryNo=165&amp;No=1081&amp;PartNo=1#contents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3ED665-CD94-38C7-1342-BC8BC13BA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624" y="1498300"/>
            <a:ext cx="7301526" cy="458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8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CD7B4-9144-B2CC-8A6A-7582618E1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88BEA-2EBC-EF5B-3691-006B2E960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44" y="486299"/>
            <a:ext cx="9100481" cy="60065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ECA471-BB41-E1CA-3E60-0D5A1135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DE10-Standard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05068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4FB9F-6A23-6A4C-0A0F-7781E391F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A0DF7-EDB4-8CF0-33EB-448212619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93366-B5FF-C59D-A07C-554F87B0E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884" y="0"/>
            <a:ext cx="7670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23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978EA-8A9F-61EA-70EF-7CFBB3B65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: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ED421-0D3E-209D-7DA2-A6005A54D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Github.com/rizki-ap/</a:t>
            </a:r>
            <a:r>
              <a:rPr lang="en-US" dirty="0" err="1"/>
              <a:t>vlsi</a:t>
            </a:r>
            <a:r>
              <a:rPr lang="en-US" dirty="0"/>
              <a:t>/</a:t>
            </a:r>
          </a:p>
          <a:p>
            <a:r>
              <a:rPr lang="en-US" dirty="0"/>
              <a:t>Google</a:t>
            </a:r>
          </a:p>
          <a:p>
            <a:r>
              <a:rPr lang="en-US" dirty="0"/>
              <a:t>Claude AI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77139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781</Words>
  <Application>Microsoft Office PowerPoint</Application>
  <PresentationFormat>Widescreen</PresentationFormat>
  <Paragraphs>90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Lato</vt:lpstr>
      <vt:lpstr>Times New Roman</vt:lpstr>
      <vt:lpstr>Office Theme</vt:lpstr>
      <vt:lpstr>FPGA &amp; SoC</vt:lpstr>
      <vt:lpstr>Historical Introduction</vt:lpstr>
      <vt:lpstr>Historical Introduction</vt:lpstr>
      <vt:lpstr>Historical introduction</vt:lpstr>
      <vt:lpstr>PowerPoint Presentation</vt:lpstr>
      <vt:lpstr>FPGA evolution since the 1980s</vt:lpstr>
      <vt:lpstr>Programmable vs Fixed</vt:lpstr>
      <vt:lpstr>Computation Hardware</vt:lpstr>
      <vt:lpstr>FPGA Application</vt:lpstr>
      <vt:lpstr>System on Chip (SoC)</vt:lpstr>
      <vt:lpstr>SoC: System on a Chip</vt:lpstr>
      <vt:lpstr>FPGA Productivity Gap</vt:lpstr>
      <vt:lpstr>SoC Platforms</vt:lpstr>
      <vt:lpstr>SoC Component</vt:lpstr>
      <vt:lpstr>IP-Core</vt:lpstr>
      <vt:lpstr>IP Cores</vt:lpstr>
      <vt:lpstr>CPU Cores</vt:lpstr>
      <vt:lpstr>FPGA Producer </vt:lpstr>
      <vt:lpstr>Altera Cyclone-V : FPGA + ARM</vt:lpstr>
      <vt:lpstr>HPS in Cyclone-V</vt:lpstr>
      <vt:lpstr>DE10-Standar from Terasic</vt:lpstr>
      <vt:lpstr>DE10-Standard</vt:lpstr>
      <vt:lpstr>PowerPoint Presentation</vt:lpstr>
      <vt:lpstr>Resource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RIZKI ARDIANTO PRIRAMADHI</dc:creator>
  <cp:lastModifiedBy>RIZKI ARDIANTO PRIRAMADHI</cp:lastModifiedBy>
  <cp:revision>4</cp:revision>
  <dcterms:created xsi:type="dcterms:W3CDTF">2026-09-18T02:27:20Z</dcterms:created>
  <dcterms:modified xsi:type="dcterms:W3CDTF">2026-09-18T02:58:20Z</dcterms:modified>
</cp:coreProperties>
</file>