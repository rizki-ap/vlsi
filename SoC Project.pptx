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4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555A-A569-16B7-8007-672DF033F1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B09EB5-7819-BBF9-CE20-A8677E8CB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647DD-C918-FF2B-550F-8D37106E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27DE9-BE0F-43BE-B99F-24036ED45098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1748-6805-99DE-CC3D-A52454382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D65E4-BA19-1679-0DCB-527C38BA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C8E6-3592-4DF1-A5B4-DE9B3255CF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187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5463-820B-A020-05DD-B22AB2F61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D5287-97E1-BE17-6661-7BB925F88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1C013-65F0-2707-AD54-E5B653B20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27DE9-BE0F-43BE-B99F-24036ED45098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87EA4-6831-BCBE-3C3E-A28D01C5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B3721-95D9-F276-E056-109978A84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C8E6-3592-4DF1-A5B4-DE9B3255CF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62461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7AF8-5946-D82D-956F-983AD9EC4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5E656-4343-B7C7-62B4-0D80A2A95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3FE63-645E-C142-DA5B-311783969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27DE9-BE0F-43BE-B99F-24036ED45098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D25FA-2048-0374-CBBA-CA36BEC92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94F78-44BF-0768-1C15-CF4580963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C8E6-3592-4DF1-A5B4-DE9B3255CF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40735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1CCDC-29C4-EBE9-4BFF-DAA3C6987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EE56A-005D-C847-E437-EA5E7DD1F0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6FA24E-8591-6C2F-306E-F4E553925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F651A-D5CA-7585-653D-DFA63C6D4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27DE9-BE0F-43BE-B99F-24036ED45098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4BA4F-F3D7-18AE-2162-CF4C4A59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98857-8BA1-42F1-A024-BC64285A9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C8E6-3592-4DF1-A5B4-DE9B3255CF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00453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2EE53-3E98-86D8-8C12-2EB0AADFF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5AFED-FDD9-AA0C-159F-DC7E3751C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1B5CC-05EB-1AF7-E92B-D829BFFD8D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5D9CF7-F513-1389-709D-A37243F125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2A84F5-4AA9-2206-6A63-F36CF36F17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EF02C9-CEA9-7A00-78F8-3AF792060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27DE9-BE0F-43BE-B99F-24036ED45098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AAF744-2CF2-B59F-3F31-C3096FBD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64B08D-BC8F-F584-55F4-C8AA87BA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C8E6-3592-4DF1-A5B4-DE9B3255CF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50410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58DFE-E013-1331-7CAF-4C0160D6E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405369-DC51-3D4A-4D67-9199B855C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27DE9-BE0F-43BE-B99F-24036ED45098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22054-4506-F91A-316D-E1239D5E2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06F89-C114-B7B3-8F06-49F441739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C8E6-3592-4DF1-A5B4-DE9B3255CF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29251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0082A3-446E-251C-3F76-E33B915EA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27DE9-BE0F-43BE-B99F-24036ED45098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9FA9AE-0DA1-7D0D-4FC6-78889BF98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C68E0-FCB5-8CC4-5B7D-DBF5E11A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C8E6-3592-4DF1-A5B4-DE9B3255CF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46949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D7B47-73CF-7A4A-DCDE-D15B62B2A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04F69-EC3C-3BD2-8769-9640C97FC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7D4CA-F62F-55F8-6373-46EAE745D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A79C1-DBE4-1847-981B-27182F24F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27DE9-BE0F-43BE-B99F-24036ED45098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F7962-7112-B6F3-CBB9-BB0FC05AA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CAE6D-96C5-B663-9704-6AED1AD8D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C8E6-3592-4DF1-A5B4-DE9B3255CF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104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E4FA9-9DD3-E4C3-8AFA-E4E237DD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EBAAF1-967E-F2D5-3E4A-EA00F2CBAD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99864-0FEF-38D0-2043-0E516BE2D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1EA7F-F8E5-9F73-0C82-81EFC7273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27DE9-BE0F-43BE-B99F-24036ED45098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03B2A-21F1-E961-2DF9-EE96BD690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17DD1-E79D-1CD4-7067-B097B1F85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C8E6-3592-4DF1-A5B4-DE9B3255CF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76438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DC1FA-DBF2-7B1D-EE98-EEAE8B4E6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B412E4-3F28-5785-0E61-1EEF2C8E4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121B5-DF61-4195-3428-976B7B560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27DE9-BE0F-43BE-B99F-24036ED45098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C0727-2CAE-A50A-E064-674C576CA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BA903-99F1-8006-C3D9-F6E4A8E6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C8E6-3592-4DF1-A5B4-DE9B3255CF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5142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5FB489-D15D-01A0-4A9A-E33FBF52A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DB755-812F-9F8A-18B2-F4458D9F62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494AE-3895-B598-6A1C-E8A678D8D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27DE9-BE0F-43BE-B99F-24036ED45098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57673-789F-E580-CFFB-54A388DEC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44C50-6632-55A2-A492-B266F960C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C8E6-3592-4DF1-A5B4-DE9B3255CF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75043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0ED73B-8FA8-E7E6-1AE3-209A2E167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E2759-0EBF-5D25-0EE8-FEA64253D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218F1-C056-27E3-9808-26F13749B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827DE9-BE0F-43BE-B99F-24036ED45098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A2BCE-C014-5842-D655-391F69680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C8A63-03FF-EE12-A4E9-2F2115B32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FAC8E6-3592-4DF1-A5B4-DE9B3255CF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90211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5CA56-945F-5213-6AAC-D002067D91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SoC Project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4C5B7D-8BA1-68DC-C4D6-72859E7D05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64114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6791A-93A6-9D90-3CCD-9B7444941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Quartus Project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BEA52-6026-CDA0-F1B0-F433DE3B9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56314" cy="4351338"/>
          </a:xfrm>
        </p:spPr>
        <p:txBody>
          <a:bodyPr/>
          <a:lstStyle/>
          <a:p>
            <a:r>
              <a:rPr lang="en-US" dirty="0"/>
              <a:t>Project Directory : C:/Altera/project_soc</a:t>
            </a:r>
          </a:p>
          <a:p>
            <a:r>
              <a:rPr lang="en-US" dirty="0"/>
              <a:t>Project name :</a:t>
            </a:r>
          </a:p>
          <a:p>
            <a:pPr marL="0" indent="0">
              <a:buNone/>
            </a:pPr>
            <a:r>
              <a:rPr lang="en-US" dirty="0" err="1"/>
              <a:t>project_soc</a:t>
            </a:r>
            <a:endParaRPr lang="en-US" dirty="0"/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398619-E6B0-A810-436C-BF393C4B3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128" y="1679139"/>
            <a:ext cx="5426111" cy="481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D9F50-A406-CE96-F446-92D922FD3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2650"/>
          </a:xfrm>
        </p:spPr>
        <p:txBody>
          <a:bodyPr/>
          <a:lstStyle/>
          <a:p>
            <a:r>
              <a:rPr lang="en-US" dirty="0"/>
              <a:t>Add Verilog files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4503C-F73C-EF63-60EA-B7779A9A4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6325"/>
            <a:ext cx="10763250" cy="5629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module CustomIP (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input [1:0] address,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input chipselect,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input clk,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input read,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input reset_n,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input write,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input [31:0] writedata,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output [9:0] led_out,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output reg [31:0] readdata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);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 	reg [9:0] DATA;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always @ ( posedge clk or negedge reset_n )</a:t>
            </a:r>
            <a:r>
              <a:rPr lang="en-US" sz="1200" b="1" dirty="0">
                <a:latin typeface="Consolas" panose="020B0609020204030204" pitchFamily="49" charset="0"/>
              </a:rPr>
              <a:t> </a:t>
            </a:r>
            <a:r>
              <a:rPr lang="id-ID" sz="1200" b="1" dirty="0">
                <a:latin typeface="Consolas" panose="020B0609020204030204" pitchFamily="49" charset="0"/>
              </a:rPr>
              <a:t>begin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	if ( reset_n == 1'b0 )</a:t>
            </a:r>
            <a:r>
              <a:rPr lang="en-US" sz="1200" b="1" dirty="0">
                <a:latin typeface="Consolas" panose="020B0609020204030204" pitchFamily="49" charset="0"/>
              </a:rPr>
              <a:t> b</a:t>
            </a:r>
            <a:r>
              <a:rPr lang="id-ID" sz="1200" b="1" dirty="0">
                <a:latin typeface="Consolas" panose="020B0609020204030204" pitchFamily="49" charset="0"/>
              </a:rPr>
              <a:t>egin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		DATA &lt;= 10'b0;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		readdata &lt;= 32'b0;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	end</a:t>
            </a:r>
            <a:r>
              <a:rPr lang="en-US" sz="1200" b="1" dirty="0">
                <a:latin typeface="Consolas" panose="020B0609020204030204" pitchFamily="49" charset="0"/>
              </a:rPr>
              <a:t> </a:t>
            </a:r>
            <a:r>
              <a:rPr lang="id-ID" sz="1200" b="1" dirty="0">
                <a:latin typeface="Consolas" panose="020B0609020204030204" pitchFamily="49" charset="0"/>
              </a:rPr>
              <a:t>else if ( chipselect &amp;&amp; write &amp;&amp; (address == 2'b0))</a:t>
            </a:r>
            <a:r>
              <a:rPr lang="en-US" sz="1200" b="1" dirty="0">
                <a:latin typeface="Consolas" panose="020B0609020204030204" pitchFamily="49" charset="0"/>
              </a:rPr>
              <a:t> </a:t>
            </a:r>
            <a:r>
              <a:rPr lang="id-ID" sz="1200" b="1" dirty="0">
                <a:latin typeface="Consolas" panose="020B0609020204030204" pitchFamily="49" charset="0"/>
              </a:rPr>
              <a:t>begin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		DATA &lt;= writedata[9:0];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		readdata &lt;= 32'b0;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	end</a:t>
            </a:r>
            <a:r>
              <a:rPr lang="en-US" sz="1200" b="1" dirty="0">
                <a:latin typeface="Consolas" panose="020B0609020204030204" pitchFamily="49" charset="0"/>
              </a:rPr>
              <a:t> </a:t>
            </a:r>
            <a:r>
              <a:rPr lang="id-ID" sz="1200" b="1" dirty="0">
                <a:latin typeface="Consolas" panose="020B0609020204030204" pitchFamily="49" charset="0"/>
              </a:rPr>
              <a:t>else if ( chipselect &amp;&amp; read &amp;&amp; (address == 2'b0) )</a:t>
            </a:r>
            <a:r>
              <a:rPr lang="en-ID" sz="1200" b="1" dirty="0">
                <a:latin typeface="Consolas" panose="020B0609020204030204" pitchFamily="49" charset="0"/>
              </a:rPr>
              <a:t> </a:t>
            </a:r>
            <a:r>
              <a:rPr lang="id-ID" sz="1200" b="1" dirty="0">
                <a:latin typeface="Consolas" panose="020B0609020204030204" pitchFamily="49" charset="0"/>
              </a:rPr>
              <a:t>begin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		readdata &lt;= DATA;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		DATA &lt;= DATA;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	end</a:t>
            </a:r>
            <a:r>
              <a:rPr lang="en-US" sz="1200" b="1" dirty="0">
                <a:latin typeface="Consolas" panose="020B0609020204030204" pitchFamily="49" charset="0"/>
              </a:rPr>
              <a:t> </a:t>
            </a:r>
            <a:r>
              <a:rPr lang="id-ID" sz="1200" b="1" dirty="0">
                <a:latin typeface="Consolas" panose="020B0609020204030204" pitchFamily="49" charset="0"/>
              </a:rPr>
              <a:t>else</a:t>
            </a:r>
            <a:r>
              <a:rPr lang="en-ID" sz="1200" b="1" dirty="0">
                <a:latin typeface="Consolas" panose="020B0609020204030204" pitchFamily="49" charset="0"/>
              </a:rPr>
              <a:t> </a:t>
            </a:r>
            <a:r>
              <a:rPr lang="id-ID" sz="1200" b="1" dirty="0">
                <a:latin typeface="Consolas" panose="020B0609020204030204" pitchFamily="49" charset="0"/>
              </a:rPr>
              <a:t>begin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		readdata &lt;= 32'b0;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		DATA &lt;= DATA;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	end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end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	assign led_out = DATA;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1200" b="1" dirty="0">
                <a:latin typeface="Consolas" panose="020B0609020204030204" pitchFamily="49" charset="0"/>
              </a:rPr>
              <a:t>endmodule</a:t>
            </a:r>
            <a:endParaRPr lang="en-ID" sz="1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1200" b="1" dirty="0">
              <a:latin typeface="Consolas" panose="020B060902020403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1A508EE-860F-4E10-40D1-6779F27C36F9}"/>
              </a:ext>
            </a:extLst>
          </p:cNvPr>
          <p:cNvSpPr txBox="1">
            <a:spLocks/>
          </p:cNvSpPr>
          <p:nvPr/>
        </p:nvSpPr>
        <p:spPr>
          <a:xfrm>
            <a:off x="7658100" y="1430337"/>
            <a:ext cx="42563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Save As : </a:t>
            </a:r>
            <a:r>
              <a:rPr lang="en-US" sz="2000" dirty="0" err="1"/>
              <a:t>CustomIP.v</a:t>
            </a:r>
            <a:endParaRPr lang="en-US" sz="2000" dirty="0"/>
          </a:p>
          <a:p>
            <a:r>
              <a:rPr lang="en-US" sz="2000" dirty="0"/>
              <a:t>Add files to project:</a:t>
            </a:r>
          </a:p>
          <a:p>
            <a:pPr lvl="1"/>
            <a:r>
              <a:rPr lang="en-US" sz="1800" dirty="0"/>
              <a:t>Project </a:t>
            </a:r>
            <a:r>
              <a:rPr lang="en-US" sz="1800" dirty="0">
                <a:sym typeface="Wingdings" panose="05000000000000000000" pitchFamily="2" charset="2"/>
              </a:rPr>
              <a:t> Add/remove files in project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Add </a:t>
            </a:r>
            <a:r>
              <a:rPr lang="en-US" sz="1800" dirty="0" err="1">
                <a:sym typeface="Wingdings" panose="05000000000000000000" pitchFamily="2" charset="2"/>
              </a:rPr>
              <a:t>custumIP.v</a:t>
            </a:r>
            <a:r>
              <a:rPr lang="en-US" sz="1800" dirty="0">
                <a:sym typeface="Wingdings" panose="05000000000000000000" pitchFamily="2" charset="2"/>
              </a:rPr>
              <a:t> to project</a:t>
            </a: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1471949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83C61-A04A-C6F9-A5E5-E3898B974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5D6B5-E362-A7B7-C618-E3CD941E3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767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In Main Quartus windows :</a:t>
            </a:r>
          </a:p>
          <a:p>
            <a:r>
              <a:rPr lang="en-US" sz="2400" dirty="0"/>
              <a:t>Tools </a:t>
            </a:r>
            <a:r>
              <a:rPr lang="en-US" sz="2400" dirty="0">
                <a:sym typeface="Wingdings" panose="05000000000000000000" pitchFamily="2" charset="2"/>
              </a:rPr>
              <a:t> Platform Designer</a:t>
            </a:r>
          </a:p>
          <a:p>
            <a:endParaRPr lang="en-ID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FA4297-B69E-3B57-3390-8FEB259A6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674" y="1825625"/>
            <a:ext cx="6691925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401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844DA-EB26-01A8-94AF-F5785DF90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</a:t>
            </a:r>
            <a:r>
              <a:rPr lang="en-US" dirty="0" err="1"/>
              <a:t>Nios</a:t>
            </a:r>
            <a:r>
              <a:rPr lang="en-US" dirty="0"/>
              <a:t>-II processor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1908E-866D-DC28-B935-BF70396BB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" y="1892300"/>
            <a:ext cx="11258550" cy="4351338"/>
          </a:xfrm>
        </p:spPr>
        <p:txBody>
          <a:bodyPr/>
          <a:lstStyle/>
          <a:p>
            <a:pPr lvl="1"/>
            <a:r>
              <a:rPr lang="en-US" dirty="0"/>
              <a:t>Find </a:t>
            </a:r>
            <a:r>
              <a:rPr lang="id-ID" dirty="0"/>
              <a:t>‘</a:t>
            </a:r>
            <a:r>
              <a:rPr lang="id-ID" b="1" dirty="0"/>
              <a:t>nios’</a:t>
            </a:r>
            <a:r>
              <a:rPr lang="id-ID" dirty="0"/>
              <a:t> </a:t>
            </a:r>
            <a:r>
              <a:rPr lang="en-US" dirty="0"/>
              <a:t>in </a:t>
            </a:r>
            <a:r>
              <a:rPr lang="id-ID" dirty="0"/>
              <a:t>search</a:t>
            </a:r>
            <a:r>
              <a:rPr lang="en-US" dirty="0"/>
              <a:t> box</a:t>
            </a:r>
            <a:r>
              <a:rPr lang="id-ID" dirty="0"/>
              <a:t> </a:t>
            </a:r>
            <a:r>
              <a:rPr lang="en-US" dirty="0"/>
              <a:t>then choose </a:t>
            </a:r>
            <a:r>
              <a:rPr lang="id-ID" b="1" dirty="0"/>
              <a:t>Nios II Processor </a:t>
            </a:r>
            <a:r>
              <a:rPr lang="id-ID" b="1" dirty="0">
                <a:sym typeface="Wingdings" panose="05000000000000000000" pitchFamily="2" charset="2"/>
              </a:rPr>
              <a:t></a:t>
            </a:r>
            <a:r>
              <a:rPr lang="id-ID" b="1" dirty="0"/>
              <a:t> </a:t>
            </a:r>
            <a:r>
              <a:rPr lang="en-US" dirty="0"/>
              <a:t>click</a:t>
            </a:r>
            <a:r>
              <a:rPr lang="id-ID" dirty="0"/>
              <a:t> </a:t>
            </a:r>
            <a:r>
              <a:rPr lang="id-ID" b="1" dirty="0"/>
              <a:t>Add...</a:t>
            </a:r>
            <a:r>
              <a:rPr lang="id-ID" dirty="0"/>
              <a:t> </a:t>
            </a:r>
            <a:endParaRPr lang="en-ID" dirty="0"/>
          </a:p>
          <a:p>
            <a:pPr lvl="1"/>
            <a:r>
              <a:rPr lang="en-US" dirty="0"/>
              <a:t>then</a:t>
            </a:r>
            <a:r>
              <a:rPr lang="id-ID" dirty="0"/>
              <a:t> </a:t>
            </a:r>
            <a:r>
              <a:rPr lang="en-US" dirty="0"/>
              <a:t>choose </a:t>
            </a:r>
            <a:r>
              <a:rPr lang="id-ID" b="1" dirty="0"/>
              <a:t>Nios-II/e </a:t>
            </a:r>
            <a:r>
              <a:rPr lang="id-ID" dirty="0">
                <a:sym typeface="Wingdings" panose="05000000000000000000" pitchFamily="2" charset="2"/>
              </a:rPr>
              <a:t></a:t>
            </a:r>
            <a:r>
              <a:rPr lang="id-ID" dirty="0"/>
              <a:t> </a:t>
            </a:r>
            <a:r>
              <a:rPr lang="en-US" dirty="0"/>
              <a:t>click</a:t>
            </a:r>
            <a:r>
              <a:rPr lang="id-ID" dirty="0"/>
              <a:t> </a:t>
            </a:r>
            <a:r>
              <a:rPr lang="id-ID" b="1" dirty="0"/>
              <a:t>Finish</a:t>
            </a:r>
            <a:endParaRPr lang="en-ID" dirty="0"/>
          </a:p>
          <a:p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DB7CF8-FD7E-547E-E438-595F1C28C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169" y="2852242"/>
            <a:ext cx="2145031" cy="33913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1FF59D-2903-F660-4873-123828916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987780"/>
            <a:ext cx="6403859" cy="332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577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10D24-8AC4-0C4E-A941-77E14D320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Memory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85D1B-F1B7-7896-54A4-4F8B2604D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Find </a:t>
            </a:r>
            <a:r>
              <a:rPr lang="id-ID" dirty="0"/>
              <a:t> ‘</a:t>
            </a:r>
            <a:r>
              <a:rPr lang="id-ID" b="1" dirty="0"/>
              <a:t>memory</a:t>
            </a:r>
            <a:r>
              <a:rPr lang="id-ID" dirty="0"/>
              <a:t>’ </a:t>
            </a:r>
            <a:r>
              <a:rPr lang="en-US" dirty="0"/>
              <a:t>in </a:t>
            </a:r>
            <a:r>
              <a:rPr lang="id-ID" dirty="0"/>
              <a:t>search </a:t>
            </a:r>
            <a:r>
              <a:rPr lang="en-US" dirty="0"/>
              <a:t>box  and choose </a:t>
            </a:r>
            <a:r>
              <a:rPr lang="id-ID" b="1" dirty="0"/>
              <a:t>On-Chip Memory (..) Intel FPGA IP </a:t>
            </a:r>
            <a:r>
              <a:rPr lang="id-ID" b="1" dirty="0">
                <a:sym typeface="Wingdings" panose="05000000000000000000" pitchFamily="2" charset="2"/>
              </a:rPr>
              <a:t></a:t>
            </a:r>
            <a:r>
              <a:rPr lang="id-ID" b="1" dirty="0"/>
              <a:t> </a:t>
            </a:r>
            <a:r>
              <a:rPr lang="en-US" dirty="0"/>
              <a:t>click </a:t>
            </a:r>
            <a:r>
              <a:rPr lang="id-ID" b="1" dirty="0"/>
              <a:t>Add...</a:t>
            </a:r>
            <a:r>
              <a:rPr lang="id-ID" dirty="0"/>
              <a:t> </a:t>
            </a:r>
            <a:endParaRPr lang="en-ID" dirty="0"/>
          </a:p>
          <a:p>
            <a:pPr lvl="1"/>
            <a:r>
              <a:rPr lang="en-US" dirty="0"/>
              <a:t>Then in field</a:t>
            </a:r>
            <a:r>
              <a:rPr lang="id-ID" dirty="0"/>
              <a:t> “</a:t>
            </a:r>
            <a:r>
              <a:rPr lang="id-ID" b="1" dirty="0"/>
              <a:t>Total memory size </a:t>
            </a:r>
            <a:r>
              <a:rPr lang="id-ID" dirty="0"/>
              <a:t>:” </a:t>
            </a:r>
            <a:r>
              <a:rPr lang="en-US" dirty="0"/>
              <a:t>fill</a:t>
            </a:r>
            <a:r>
              <a:rPr lang="id-ID" dirty="0"/>
              <a:t> </a:t>
            </a:r>
            <a:r>
              <a:rPr lang="id-ID" b="1" dirty="0"/>
              <a:t>40960</a:t>
            </a:r>
            <a:r>
              <a:rPr lang="id-ID" dirty="0"/>
              <a:t> (bytes) </a:t>
            </a:r>
            <a:r>
              <a:rPr lang="id-ID" dirty="0">
                <a:sym typeface="Wingdings" panose="05000000000000000000" pitchFamily="2" charset="2"/>
              </a:rPr>
              <a:t></a:t>
            </a:r>
            <a:r>
              <a:rPr lang="id-ID" dirty="0"/>
              <a:t> </a:t>
            </a:r>
            <a:r>
              <a:rPr lang="en-US" dirty="0"/>
              <a:t>cl</a:t>
            </a:r>
            <a:r>
              <a:rPr lang="id-ID" dirty="0"/>
              <a:t>i</a:t>
            </a:r>
            <a:r>
              <a:rPr lang="en-US" dirty="0"/>
              <a:t>c</a:t>
            </a:r>
            <a:r>
              <a:rPr lang="id-ID" dirty="0"/>
              <a:t>k </a:t>
            </a:r>
            <a:r>
              <a:rPr lang="id-ID" b="1" dirty="0"/>
              <a:t>Finish</a:t>
            </a:r>
            <a:endParaRPr lang="en-ID" dirty="0"/>
          </a:p>
          <a:p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D06A44-AE9A-307C-878F-B0D86D5AB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855" y="2949867"/>
            <a:ext cx="3578543" cy="35430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9A6038-C423-2946-FB90-89C1CC318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176" y="2949867"/>
            <a:ext cx="6395402" cy="412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60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48AF4-FA40-4115-7E17-776F0E770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JTAG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A5888-5C5D-3B48-A1A5-E66D90ED5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</a:t>
            </a:r>
            <a:r>
              <a:rPr lang="id-ID" dirty="0"/>
              <a:t> ‘</a:t>
            </a:r>
            <a:r>
              <a:rPr lang="id-ID" b="1" dirty="0"/>
              <a:t>jtag</a:t>
            </a:r>
            <a:r>
              <a:rPr lang="id-ID" dirty="0"/>
              <a:t> </a:t>
            </a:r>
            <a:r>
              <a:rPr lang="en-US" dirty="0"/>
              <a:t>in </a:t>
            </a:r>
            <a:r>
              <a:rPr lang="id-ID" dirty="0"/>
              <a:t>search </a:t>
            </a:r>
            <a:r>
              <a:rPr lang="en-US" dirty="0"/>
              <a:t>box and choose</a:t>
            </a:r>
            <a:r>
              <a:rPr lang="id-ID" dirty="0"/>
              <a:t> </a:t>
            </a:r>
            <a:r>
              <a:rPr lang="id-ID" b="1" dirty="0"/>
              <a:t>JTAG UART Intel FPGA IP </a:t>
            </a:r>
            <a:r>
              <a:rPr lang="id-ID" b="1" dirty="0">
                <a:sym typeface="Wingdings" panose="05000000000000000000" pitchFamily="2" charset="2"/>
              </a:rPr>
              <a:t></a:t>
            </a:r>
            <a:r>
              <a:rPr lang="id-ID" b="1" dirty="0"/>
              <a:t> </a:t>
            </a:r>
            <a:r>
              <a:rPr lang="en-US" dirty="0"/>
              <a:t>c</a:t>
            </a:r>
            <a:r>
              <a:rPr lang="id-ID" dirty="0"/>
              <a:t>li</a:t>
            </a:r>
            <a:r>
              <a:rPr lang="en-US" dirty="0"/>
              <a:t>c</a:t>
            </a:r>
            <a:r>
              <a:rPr lang="id-ID" dirty="0"/>
              <a:t>k </a:t>
            </a:r>
            <a:r>
              <a:rPr lang="id-ID" b="1" dirty="0"/>
              <a:t>Add...</a:t>
            </a:r>
            <a:r>
              <a:rPr lang="id-ID" dirty="0"/>
              <a:t> </a:t>
            </a:r>
            <a:r>
              <a:rPr lang="id-ID" dirty="0">
                <a:sym typeface="Wingdings" panose="05000000000000000000" pitchFamily="2" charset="2"/>
              </a:rPr>
              <a:t></a:t>
            </a:r>
            <a:r>
              <a:rPr lang="id-ID" dirty="0"/>
              <a:t> </a:t>
            </a:r>
            <a:r>
              <a:rPr lang="en-US" dirty="0"/>
              <a:t>c</a:t>
            </a:r>
            <a:r>
              <a:rPr lang="id-ID" dirty="0"/>
              <a:t>li</a:t>
            </a:r>
            <a:r>
              <a:rPr lang="en-US" dirty="0"/>
              <a:t>c</a:t>
            </a:r>
            <a:r>
              <a:rPr lang="id-ID" dirty="0"/>
              <a:t>k </a:t>
            </a:r>
            <a:r>
              <a:rPr lang="id-ID" b="1" dirty="0"/>
              <a:t>Finish</a:t>
            </a:r>
            <a:endParaRPr lang="en-ID" dirty="0"/>
          </a:p>
          <a:p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0BAA7E-CE21-1AA9-D55D-E6432D844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945" y="2704464"/>
            <a:ext cx="3383280" cy="394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364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FD68F-0B48-92FE-7F16-D957A8B3C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Checkpoint-1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876E1-C40F-57AA-6A99-B54885DBB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638425" cy="4351338"/>
          </a:xfrm>
        </p:spPr>
        <p:txBody>
          <a:bodyPr/>
          <a:lstStyle/>
          <a:p>
            <a:r>
              <a:rPr lang="en-US" dirty="0"/>
              <a:t>If all steps succeeded, it will looks like :</a:t>
            </a:r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03DEFF-84B1-0F73-72D8-EADBC0E19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49" y="1690688"/>
            <a:ext cx="8267701" cy="498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83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EDBAE-3DF5-F77E-2D57-130B05176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Custom IP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FAC05-D69E-0348-7F33-6EA28DEF2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id-ID" dirty="0"/>
              <a:t>IP catalog</a:t>
            </a:r>
            <a:r>
              <a:rPr lang="en-US" dirty="0"/>
              <a:t> menu</a:t>
            </a:r>
            <a:r>
              <a:rPr lang="id-ID" dirty="0"/>
              <a:t>, </a:t>
            </a:r>
            <a:r>
              <a:rPr lang="en-US" dirty="0"/>
              <a:t>c</a:t>
            </a:r>
            <a:r>
              <a:rPr lang="id-ID" dirty="0"/>
              <a:t>li</a:t>
            </a:r>
            <a:r>
              <a:rPr lang="en-US" dirty="0"/>
              <a:t>c</a:t>
            </a:r>
            <a:r>
              <a:rPr lang="id-ID" dirty="0"/>
              <a:t>k </a:t>
            </a:r>
            <a:r>
              <a:rPr lang="id-ID" b="1" dirty="0"/>
              <a:t>New Component </a:t>
            </a:r>
            <a:r>
              <a:rPr lang="id-ID" b="1" dirty="0">
                <a:sym typeface="Wingdings" panose="05000000000000000000" pitchFamily="2" charset="2"/>
              </a:rPr>
              <a:t></a:t>
            </a:r>
            <a:r>
              <a:rPr lang="id-ID" b="1" dirty="0"/>
              <a:t> Add..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D54BDA-9C74-C33F-08E2-BAD731225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379" y="2405697"/>
            <a:ext cx="3058983" cy="278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30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37122-D6C1-402D-D1BF-CF6D3902B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F721A-EF51-8305-960E-CBF81D2C3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</a:t>
            </a:r>
            <a:r>
              <a:rPr lang="id-ID" dirty="0"/>
              <a:t> “Component Type”</a:t>
            </a:r>
            <a:r>
              <a:rPr lang="en-US" dirty="0"/>
              <a:t> tab</a:t>
            </a:r>
            <a:r>
              <a:rPr lang="id-ID" dirty="0"/>
              <a:t>, </a:t>
            </a:r>
            <a:r>
              <a:rPr lang="en-US" dirty="0"/>
              <a:t>fill :</a:t>
            </a:r>
            <a:endParaRPr lang="en-ID" dirty="0"/>
          </a:p>
          <a:p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603F6F-884B-0540-6C3B-4820E31DE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59" y="2281719"/>
            <a:ext cx="6436678" cy="43432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E4618E-F88F-DEB4-A4DA-296C8D219904}"/>
              </a:ext>
            </a:extLst>
          </p:cNvPr>
          <p:cNvSpPr txBox="1"/>
          <p:nvPr/>
        </p:nvSpPr>
        <p:spPr>
          <a:xfrm>
            <a:off x="8008303" y="2657475"/>
            <a:ext cx="334549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600" dirty="0"/>
              <a:t>Name </a:t>
            </a:r>
            <a:r>
              <a:rPr lang="en-US" sz="1600" dirty="0"/>
              <a:t>		</a:t>
            </a:r>
            <a:r>
              <a:rPr lang="id-ID" sz="1600" dirty="0"/>
              <a:t>: CustomIP</a:t>
            </a:r>
            <a:endParaRPr lang="en-ID" sz="1600" dirty="0"/>
          </a:p>
          <a:p>
            <a:r>
              <a:rPr lang="id-ID" sz="1600" dirty="0"/>
              <a:t>Display name </a:t>
            </a:r>
            <a:r>
              <a:rPr lang="en-US" sz="1600" dirty="0"/>
              <a:t>	</a:t>
            </a:r>
            <a:r>
              <a:rPr lang="id-ID" sz="1600" dirty="0"/>
              <a:t>: Custom IP</a:t>
            </a:r>
            <a:endParaRPr lang="en-ID" sz="1600" dirty="0"/>
          </a:p>
          <a:p>
            <a:r>
              <a:rPr lang="id-ID" sz="1600" dirty="0"/>
              <a:t>Version </a:t>
            </a:r>
            <a:r>
              <a:rPr lang="en-US" sz="1600" dirty="0"/>
              <a:t>		</a:t>
            </a:r>
            <a:r>
              <a:rPr lang="id-ID" sz="1600" dirty="0"/>
              <a:t>: ...</a:t>
            </a:r>
            <a:r>
              <a:rPr lang="en-US" sz="1600" dirty="0"/>
              <a:t>whatever</a:t>
            </a:r>
            <a:r>
              <a:rPr lang="id-ID" sz="1600" dirty="0"/>
              <a:t>...</a:t>
            </a:r>
            <a:endParaRPr lang="en-ID" sz="1600" dirty="0"/>
          </a:p>
          <a:p>
            <a:r>
              <a:rPr lang="id-ID" sz="1600" dirty="0"/>
              <a:t>Group</a:t>
            </a:r>
            <a:r>
              <a:rPr lang="en-US" sz="1600" dirty="0"/>
              <a:t>		</a:t>
            </a:r>
            <a:r>
              <a:rPr lang="id-ID" sz="1600" dirty="0"/>
              <a:t>: ...</a:t>
            </a:r>
            <a:r>
              <a:rPr lang="en-US" sz="1600" dirty="0"/>
              <a:t>whatever</a:t>
            </a:r>
            <a:r>
              <a:rPr lang="id-ID" sz="1600" dirty="0"/>
              <a:t>...</a:t>
            </a:r>
            <a:endParaRPr lang="en-ID" sz="1600" dirty="0"/>
          </a:p>
          <a:p>
            <a:r>
              <a:rPr lang="id-ID" sz="1600" dirty="0"/>
              <a:t>Description </a:t>
            </a:r>
            <a:r>
              <a:rPr lang="en-US" sz="1600" dirty="0"/>
              <a:t>	</a:t>
            </a:r>
            <a:r>
              <a:rPr lang="id-ID" sz="1600" dirty="0"/>
              <a:t>: ...</a:t>
            </a:r>
            <a:r>
              <a:rPr lang="en-US" sz="1600" dirty="0"/>
              <a:t> whatever</a:t>
            </a:r>
            <a:r>
              <a:rPr lang="id-ID" sz="1600" dirty="0"/>
              <a:t>...</a:t>
            </a:r>
            <a:endParaRPr lang="en-ID" sz="1600" dirty="0"/>
          </a:p>
          <a:p>
            <a:r>
              <a:rPr lang="id-ID" sz="1600" dirty="0"/>
              <a:t>Created by </a:t>
            </a:r>
            <a:r>
              <a:rPr lang="en-US" sz="1600" dirty="0"/>
              <a:t>	</a:t>
            </a:r>
            <a:r>
              <a:rPr lang="id-ID" sz="1600" dirty="0"/>
              <a:t>: ...</a:t>
            </a:r>
            <a:r>
              <a:rPr lang="en-US" sz="1600" dirty="0"/>
              <a:t> whatever</a:t>
            </a:r>
            <a:r>
              <a:rPr lang="id-ID" sz="1600" dirty="0"/>
              <a:t>...</a:t>
            </a:r>
            <a:endParaRPr lang="en-ID" sz="1600" dirty="0"/>
          </a:p>
          <a:p>
            <a:r>
              <a:rPr lang="id-ID" sz="1600" dirty="0"/>
              <a:t>Icon </a:t>
            </a:r>
            <a:r>
              <a:rPr lang="en-US" sz="1600" dirty="0"/>
              <a:t>		</a:t>
            </a:r>
            <a:r>
              <a:rPr lang="id-ID" sz="1600" dirty="0"/>
              <a:t>: ...</a:t>
            </a:r>
            <a:r>
              <a:rPr lang="en-US" sz="1600" dirty="0"/>
              <a:t> whatever</a:t>
            </a:r>
            <a:r>
              <a:rPr lang="id-ID" sz="1600" dirty="0"/>
              <a:t>...</a:t>
            </a:r>
            <a:endParaRPr lang="en-ID" sz="1600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8910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0EC00-B24C-F35A-9D9D-C5C4DA59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610A5-E23A-A44B-5A35-1281567AB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the </a:t>
            </a:r>
            <a:r>
              <a:rPr lang="id-ID" dirty="0"/>
              <a:t>“</a:t>
            </a:r>
            <a:r>
              <a:rPr lang="id-ID" b="1" dirty="0"/>
              <a:t>Files</a:t>
            </a:r>
            <a:r>
              <a:rPr lang="id-ID" dirty="0"/>
              <a:t>” </a:t>
            </a:r>
            <a:r>
              <a:rPr lang="en-US" dirty="0"/>
              <a:t>tab</a:t>
            </a:r>
            <a:r>
              <a:rPr lang="id-ID" dirty="0">
                <a:sym typeface="Wingdings" panose="05000000000000000000" pitchFamily="2" charset="2"/>
              </a:rPr>
              <a:t></a:t>
            </a:r>
            <a:r>
              <a:rPr lang="id-ID" dirty="0"/>
              <a:t> </a:t>
            </a:r>
            <a:r>
              <a:rPr lang="en-US" dirty="0"/>
              <a:t>in section</a:t>
            </a:r>
            <a:r>
              <a:rPr lang="id-ID" dirty="0"/>
              <a:t> “</a:t>
            </a:r>
            <a:r>
              <a:rPr lang="id-ID" b="1" dirty="0"/>
              <a:t>Synthesis Files</a:t>
            </a:r>
            <a:r>
              <a:rPr lang="id-ID" dirty="0"/>
              <a:t>” </a:t>
            </a:r>
            <a:r>
              <a:rPr lang="id-ID" dirty="0">
                <a:sym typeface="Wingdings" panose="05000000000000000000" pitchFamily="2" charset="2"/>
              </a:rPr>
              <a:t></a:t>
            </a:r>
            <a:r>
              <a:rPr lang="id-ID" dirty="0"/>
              <a:t> “</a:t>
            </a:r>
            <a:r>
              <a:rPr lang="id-ID" b="1" dirty="0"/>
              <a:t>add File...</a:t>
            </a:r>
            <a:r>
              <a:rPr lang="id-ID" dirty="0"/>
              <a:t>” </a:t>
            </a:r>
            <a:r>
              <a:rPr lang="en-US" dirty="0"/>
              <a:t>point to </a:t>
            </a:r>
            <a:r>
              <a:rPr lang="id-ID" dirty="0"/>
              <a:t>file </a:t>
            </a:r>
            <a:r>
              <a:rPr lang="id-ID" b="1" dirty="0"/>
              <a:t>CustomIP.v </a:t>
            </a:r>
            <a:r>
              <a:rPr lang="id-ID" dirty="0">
                <a:sym typeface="Wingdings" panose="05000000000000000000" pitchFamily="2" charset="2"/>
              </a:rPr>
              <a:t></a:t>
            </a:r>
            <a:r>
              <a:rPr lang="id-ID" dirty="0"/>
              <a:t> </a:t>
            </a:r>
            <a:r>
              <a:rPr lang="en-US" dirty="0"/>
              <a:t>c</a:t>
            </a:r>
            <a:r>
              <a:rPr lang="id-ID" dirty="0"/>
              <a:t>li</a:t>
            </a:r>
            <a:r>
              <a:rPr lang="en-US" dirty="0"/>
              <a:t>c</a:t>
            </a:r>
            <a:r>
              <a:rPr lang="id-ID" dirty="0"/>
              <a:t>k </a:t>
            </a:r>
            <a:r>
              <a:rPr lang="id-ID" b="1" dirty="0"/>
              <a:t>Open</a:t>
            </a:r>
            <a:r>
              <a:rPr lang="id-ID" dirty="0"/>
              <a:t>. </a:t>
            </a:r>
            <a:br>
              <a:rPr lang="id-ID" dirty="0"/>
            </a:br>
            <a:r>
              <a:rPr lang="en-US" dirty="0"/>
              <a:t>After that</a:t>
            </a:r>
            <a:r>
              <a:rPr lang="id-ID" dirty="0"/>
              <a:t>, </a:t>
            </a:r>
            <a:r>
              <a:rPr lang="en-US" dirty="0"/>
              <a:t>c</a:t>
            </a:r>
            <a:r>
              <a:rPr lang="id-ID" dirty="0"/>
              <a:t>li</a:t>
            </a:r>
            <a:r>
              <a:rPr lang="en-US" dirty="0"/>
              <a:t>c</a:t>
            </a:r>
            <a:r>
              <a:rPr lang="id-ID" dirty="0"/>
              <a:t>k “</a:t>
            </a:r>
            <a:r>
              <a:rPr lang="id-ID" b="1" dirty="0"/>
              <a:t>Analyze Synthesis File</a:t>
            </a:r>
            <a:r>
              <a:rPr lang="id-ID" dirty="0"/>
              <a:t>”</a:t>
            </a:r>
            <a:endParaRPr lang="en-ID" dirty="0"/>
          </a:p>
          <a:p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3EA4AA-78D1-4D25-95B2-E73E2E16C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44" y="3429000"/>
            <a:ext cx="5035055" cy="3140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8599BD-8B92-5B8D-1AB8-A5981CDDB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213" y="3333542"/>
            <a:ext cx="6574643" cy="328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09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029AD-A73B-C22F-F271-641FE0A10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D248B-E238-1316-BEA5-1E92FCE8E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should be success, if syntax is not error at all </a:t>
            </a:r>
            <a:r>
              <a:rPr lang="en-US" dirty="0">
                <a:sym typeface="Wingdings" panose="05000000000000000000" pitchFamily="2" charset="2"/>
              </a:rPr>
              <a:t> CLOSE</a:t>
            </a:r>
            <a:endParaRPr lang="en-US" dirty="0"/>
          </a:p>
          <a:p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D5D494-4AF4-5E58-12D1-E1A15397E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496" y="2571750"/>
            <a:ext cx="5746272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851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5D11A-6B14-1329-FCAE-57BD1DFB2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0DFA3-1795-2F1F-95BA-E95C3DE69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Underside</a:t>
            </a:r>
            <a:r>
              <a:rPr lang="id-ID" sz="2000" dirty="0"/>
              <a:t>, </a:t>
            </a:r>
            <a:r>
              <a:rPr lang="en-US" sz="2000" dirty="0"/>
              <a:t>in field </a:t>
            </a:r>
            <a:r>
              <a:rPr lang="id-ID" sz="2000" dirty="0"/>
              <a:t>“</a:t>
            </a:r>
            <a:r>
              <a:rPr lang="id-ID" sz="2000" b="1" dirty="0"/>
              <a:t>Verilog Simulation Files</a:t>
            </a:r>
            <a:r>
              <a:rPr lang="id-ID" sz="2000" dirty="0"/>
              <a:t>”, </a:t>
            </a:r>
            <a:r>
              <a:rPr lang="en-US" sz="2000" dirty="0"/>
              <a:t>c</a:t>
            </a:r>
            <a:r>
              <a:rPr lang="id-ID" sz="2000" dirty="0"/>
              <a:t>li</a:t>
            </a:r>
            <a:r>
              <a:rPr lang="en-US" sz="2000" dirty="0"/>
              <a:t>c</a:t>
            </a:r>
            <a:r>
              <a:rPr lang="id-ID" sz="2000" dirty="0"/>
              <a:t>k “</a:t>
            </a:r>
            <a:r>
              <a:rPr lang="id-ID" sz="2000" b="1" dirty="0"/>
              <a:t>Copy from Synthesis Files</a:t>
            </a:r>
            <a:r>
              <a:rPr lang="id-ID" sz="2000" dirty="0"/>
              <a:t>”</a:t>
            </a:r>
            <a:endParaRPr lang="en-ID" sz="2000" dirty="0"/>
          </a:p>
          <a:p>
            <a:endParaRPr lang="en-ID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51C5FB-4343-618B-DB86-50CA75EB9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7" y="2505097"/>
            <a:ext cx="5890660" cy="39877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F6AE60-2DCA-0220-DBC3-1A3DA2650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822" y="2495550"/>
            <a:ext cx="5908666" cy="39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106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71DEC-7B8F-A41B-BF00-0A8705127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ECD3B-C2F4-3EA1-4B77-3AC4AD339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875" y="1376977"/>
            <a:ext cx="4810125" cy="4351338"/>
          </a:xfrm>
        </p:spPr>
        <p:txBody>
          <a:bodyPr>
            <a:normAutofit/>
          </a:bodyPr>
          <a:lstStyle/>
          <a:p>
            <a:r>
              <a:rPr lang="en-US" sz="2000" dirty="0"/>
              <a:t>on</a:t>
            </a:r>
            <a:r>
              <a:rPr lang="id-ID" sz="2000" dirty="0"/>
              <a:t> “</a:t>
            </a:r>
            <a:r>
              <a:rPr lang="id-ID" sz="2000" b="1" dirty="0"/>
              <a:t>Signals &amp; Interfaces</a:t>
            </a:r>
            <a:r>
              <a:rPr lang="id-ID" sz="2000" dirty="0"/>
              <a:t>”</a:t>
            </a:r>
            <a:r>
              <a:rPr lang="en-US" sz="2000" dirty="0"/>
              <a:t> tab</a:t>
            </a:r>
            <a:r>
              <a:rPr lang="id-ID" sz="2000" dirty="0"/>
              <a:t>, </a:t>
            </a:r>
            <a:r>
              <a:rPr lang="en-US" sz="2000" dirty="0"/>
              <a:t>c</a:t>
            </a:r>
            <a:r>
              <a:rPr lang="id-ID" sz="2000" dirty="0"/>
              <a:t>li</a:t>
            </a:r>
            <a:r>
              <a:rPr lang="en-US" sz="2000" dirty="0"/>
              <a:t>c</a:t>
            </a:r>
            <a:r>
              <a:rPr lang="id-ID" sz="2000" dirty="0"/>
              <a:t>k </a:t>
            </a:r>
            <a:r>
              <a:rPr lang="en-US" sz="2000" dirty="0"/>
              <a:t>in</a:t>
            </a:r>
            <a:r>
              <a:rPr lang="id-ID" sz="2000" dirty="0"/>
              <a:t> “</a:t>
            </a:r>
            <a:r>
              <a:rPr lang="id-ID" sz="2000" b="1" dirty="0"/>
              <a:t>&lt;&lt;add interface&gt;&gt;</a:t>
            </a:r>
            <a:r>
              <a:rPr lang="id-ID" sz="2000" dirty="0"/>
              <a:t>” </a:t>
            </a:r>
            <a:r>
              <a:rPr lang="en-US" sz="2000" dirty="0"/>
              <a:t>choose </a:t>
            </a:r>
            <a:r>
              <a:rPr lang="id-ID" sz="2000" dirty="0"/>
              <a:t>“</a:t>
            </a:r>
            <a:r>
              <a:rPr lang="id-ID" sz="2000" b="1" dirty="0"/>
              <a:t>Conduit</a:t>
            </a:r>
            <a:r>
              <a:rPr lang="id-ID" sz="2000" dirty="0"/>
              <a:t>”</a:t>
            </a:r>
            <a:endParaRPr lang="en-ID" sz="2000" dirty="0"/>
          </a:p>
          <a:p>
            <a:endParaRPr lang="en-ID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849964-B348-3B98-4CFC-6B7276475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75" y="2222817"/>
            <a:ext cx="5706059" cy="44542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4FEF9A-476F-2069-9830-9AA223FEF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771" y="612418"/>
            <a:ext cx="2394903" cy="588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71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66F88-13F0-C787-0479-18A046600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26ABA-98EE-AC12-DA0D-49EAC1387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</a:t>
            </a:r>
            <a:r>
              <a:rPr lang="id-ID" dirty="0"/>
              <a:t> signal “</a:t>
            </a:r>
            <a:r>
              <a:rPr lang="id-ID" b="1" dirty="0"/>
              <a:t>led_out[10]</a:t>
            </a:r>
            <a:r>
              <a:rPr lang="id-ID" dirty="0"/>
              <a:t> readdata”</a:t>
            </a:r>
            <a:endParaRPr lang="en-ID" dirty="0"/>
          </a:p>
          <a:p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C0910C-4E85-31F7-35C8-F36A94285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457" y="2212684"/>
            <a:ext cx="3806037" cy="44643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4FE73F-8E49-5621-4AF8-9FF87AD95BFA}"/>
              </a:ext>
            </a:extLst>
          </p:cNvPr>
          <p:cNvSpPr txBox="1"/>
          <p:nvPr/>
        </p:nvSpPr>
        <p:spPr>
          <a:xfrm>
            <a:off x="5200650" y="3009900"/>
            <a:ext cx="2762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drag-drop </a:t>
            </a:r>
            <a:r>
              <a:rPr lang="en-US" dirty="0"/>
              <a:t>to under </a:t>
            </a:r>
            <a:r>
              <a:rPr lang="id-ID" b="1" dirty="0"/>
              <a:t>conduit</a:t>
            </a:r>
            <a:r>
              <a:rPr lang="id-ID" dirty="0"/>
              <a:t> </a:t>
            </a:r>
            <a:r>
              <a:rPr lang="id-ID" dirty="0">
                <a:sym typeface="Wingdings" panose="05000000000000000000" pitchFamily="2" charset="2"/>
              </a:rPr>
              <a:t>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3707CC-8A16-4F2D-4792-298BA5EDA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226497"/>
            <a:ext cx="3649668" cy="441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92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7ACA9-E348-E92E-1A31-B0669BF4C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678C-1131-8085-0493-75A475A71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</a:t>
            </a:r>
            <a:r>
              <a:rPr lang="id-ID" dirty="0"/>
              <a:t> si</a:t>
            </a:r>
            <a:r>
              <a:rPr lang="en-US" dirty="0" err="1"/>
              <a:t>gn</a:t>
            </a:r>
            <a:r>
              <a:rPr lang="id-ID" dirty="0"/>
              <a:t>al</a:t>
            </a:r>
            <a:r>
              <a:rPr lang="en-US" dirty="0"/>
              <a:t> type</a:t>
            </a:r>
            <a:r>
              <a:rPr lang="id-ID" dirty="0"/>
              <a:t> “</a:t>
            </a:r>
            <a:r>
              <a:rPr lang="id-ID" b="1" dirty="0"/>
              <a:t>led_out[10]</a:t>
            </a:r>
            <a:r>
              <a:rPr lang="id-ID" dirty="0"/>
              <a:t>” </a:t>
            </a:r>
            <a:r>
              <a:rPr lang="en-US" dirty="0"/>
              <a:t>from</a:t>
            </a:r>
            <a:r>
              <a:rPr lang="id-ID" dirty="0"/>
              <a:t> </a:t>
            </a:r>
            <a:r>
              <a:rPr lang="id-ID" b="1" dirty="0"/>
              <a:t>readdata</a:t>
            </a:r>
            <a:r>
              <a:rPr lang="id-ID" dirty="0"/>
              <a:t> </a:t>
            </a:r>
            <a:r>
              <a:rPr lang="en-US" dirty="0"/>
              <a:t>to </a:t>
            </a:r>
            <a:r>
              <a:rPr lang="id-ID" b="1" dirty="0"/>
              <a:t>interface</a:t>
            </a:r>
            <a:r>
              <a:rPr lang="id-ID" dirty="0"/>
              <a:t> (</a:t>
            </a:r>
            <a:r>
              <a:rPr lang="en-US" dirty="0"/>
              <a:t>whatever</a:t>
            </a:r>
            <a:r>
              <a:rPr lang="id-ID" dirty="0"/>
              <a:t>)</a:t>
            </a:r>
            <a:endParaRPr lang="en-ID" dirty="0"/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5A603-B7E9-FCC2-C6A0-9C570C385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01925"/>
            <a:ext cx="4466912" cy="3270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DA385A-1A81-257B-7B62-9AE556DC4744}"/>
              </a:ext>
            </a:extLst>
          </p:cNvPr>
          <p:cNvSpPr txBox="1"/>
          <p:nvPr/>
        </p:nvSpPr>
        <p:spPr>
          <a:xfrm>
            <a:off x="5410200" y="4001294"/>
            <a:ext cx="276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 to </a:t>
            </a:r>
            <a:r>
              <a:rPr lang="id-ID" dirty="0">
                <a:sym typeface="Wingdings" panose="05000000000000000000" pitchFamily="2" charset="2"/>
              </a:rPr>
              <a:t></a:t>
            </a:r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18BCE2-9C3D-312A-079D-E41FEFA32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901" y="2701925"/>
            <a:ext cx="4212326" cy="327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657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1FA75-255A-2E64-3267-945078746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126FB-4E41-0F9F-3ED8-9817D3769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89120"/>
          </a:xfrm>
        </p:spPr>
        <p:txBody>
          <a:bodyPr>
            <a:normAutofit/>
          </a:bodyPr>
          <a:lstStyle/>
          <a:p>
            <a:r>
              <a:rPr lang="en-US" sz="2000" dirty="0"/>
              <a:t>Click on </a:t>
            </a:r>
            <a:r>
              <a:rPr lang="id-ID" sz="2000" dirty="0"/>
              <a:t>“</a:t>
            </a:r>
            <a:r>
              <a:rPr lang="id-ID" sz="2000" b="1" dirty="0"/>
              <a:t>avalon_slave_</a:t>
            </a:r>
            <a:r>
              <a:rPr lang="en-US" sz="2000" b="1" dirty="0"/>
              <a:t>0</a:t>
            </a:r>
            <a:r>
              <a:rPr lang="id-ID" sz="2000" dirty="0"/>
              <a:t>”</a:t>
            </a:r>
            <a:endParaRPr lang="en-US" sz="2000" dirty="0"/>
          </a:p>
          <a:p>
            <a:r>
              <a:rPr lang="id-ID" sz="2000" dirty="0"/>
              <a:t>Ubah bagian “</a:t>
            </a:r>
            <a:r>
              <a:rPr lang="id-ID" sz="2000" b="1" dirty="0"/>
              <a:t>Associated Clock</a:t>
            </a:r>
            <a:r>
              <a:rPr lang="id-ID" sz="2000" dirty="0"/>
              <a:t>” </a:t>
            </a:r>
            <a:r>
              <a:rPr lang="id-ID" sz="2000" dirty="0">
                <a:sym typeface="Wingdings" panose="05000000000000000000" pitchFamily="2" charset="2"/>
              </a:rPr>
              <a:t></a:t>
            </a:r>
            <a:r>
              <a:rPr lang="id-ID" sz="2000" dirty="0"/>
              <a:t> </a:t>
            </a:r>
            <a:r>
              <a:rPr lang="id-ID" sz="2000" b="1" dirty="0"/>
              <a:t>clock</a:t>
            </a:r>
            <a:r>
              <a:rPr lang="id-ID" sz="2000" dirty="0"/>
              <a:t> ; bagian “</a:t>
            </a:r>
            <a:r>
              <a:rPr lang="id-ID" sz="2000" b="1" dirty="0"/>
              <a:t>Associated Reset” </a:t>
            </a:r>
            <a:r>
              <a:rPr lang="id-ID" sz="2000" dirty="0">
                <a:sym typeface="Wingdings" panose="05000000000000000000" pitchFamily="2" charset="2"/>
              </a:rPr>
              <a:t></a:t>
            </a:r>
            <a:r>
              <a:rPr lang="id-ID" sz="2000" dirty="0"/>
              <a:t> </a:t>
            </a:r>
            <a:r>
              <a:rPr lang="id-ID" sz="2000" b="1" dirty="0"/>
              <a:t>reset</a:t>
            </a:r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dirty="0"/>
              <a:t>Click</a:t>
            </a:r>
            <a:r>
              <a:rPr lang="en-US" sz="2000" b="1" dirty="0"/>
              <a:t> Finish </a:t>
            </a:r>
            <a:r>
              <a:rPr lang="en-US" sz="2000" b="1" dirty="0">
                <a:sym typeface="Wingdings" panose="05000000000000000000" pitchFamily="2" charset="2"/>
              </a:rPr>
              <a:t> Yes, Save</a:t>
            </a:r>
          </a:p>
          <a:p>
            <a:endParaRPr lang="en-ID" sz="2000" dirty="0"/>
          </a:p>
          <a:p>
            <a:endParaRPr lang="en-ID" sz="2000" dirty="0"/>
          </a:p>
          <a:p>
            <a:endParaRPr lang="en-ID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6803F5-573C-BA40-577E-B435AC066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85" y="2604255"/>
            <a:ext cx="6882765" cy="23257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839ABA-3BEC-516A-FE30-2E4E87483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657" y="4702550"/>
            <a:ext cx="6317700" cy="201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53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625D-0832-E4D8-4A6E-C5035A3A7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Platform Designer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2969E-3182-56AD-B230-BD13EFDF7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10025" cy="4351338"/>
          </a:xfrm>
        </p:spPr>
        <p:txBody>
          <a:bodyPr/>
          <a:lstStyle/>
          <a:p>
            <a:r>
              <a:rPr lang="en-US" dirty="0"/>
              <a:t>In IP Catalog menu, our </a:t>
            </a:r>
            <a:r>
              <a:rPr lang="en-US" dirty="0" err="1"/>
              <a:t>CustomIP</a:t>
            </a:r>
            <a:r>
              <a:rPr lang="en-US" dirty="0"/>
              <a:t> already there</a:t>
            </a:r>
          </a:p>
          <a:p>
            <a:r>
              <a:rPr lang="en-US" dirty="0"/>
              <a:t>Click in </a:t>
            </a:r>
            <a:r>
              <a:rPr lang="en-US" dirty="0" err="1"/>
              <a:t>CustomIP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add</a:t>
            </a:r>
          </a:p>
          <a:p>
            <a:r>
              <a:rPr lang="en-US" dirty="0">
                <a:sym typeface="Wingdings" panose="05000000000000000000" pitchFamily="2" charset="2"/>
              </a:rPr>
              <a:t>Click finish</a:t>
            </a:r>
          </a:p>
          <a:p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49A25B-A6E2-0A19-DA43-B525046A6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1184592"/>
            <a:ext cx="6427634" cy="511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841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995E1-5B16-A5AB-CE01-ABA8FCB27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620"/>
          </a:xfrm>
        </p:spPr>
        <p:txBody>
          <a:bodyPr>
            <a:normAutofit fontScale="90000"/>
          </a:bodyPr>
          <a:lstStyle/>
          <a:p>
            <a:r>
              <a:rPr lang="en-US" dirty="0"/>
              <a:t>All System in our SoC to be Integrated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B0554-44D7-E52B-1842-43621011F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5D61F7-1D20-8DFA-A4FD-A7DAD757B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907" y="1007745"/>
            <a:ext cx="9100185" cy="568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758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D149B-6296-F736-D6A4-4EFC463DB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66E4C-5AE1-25AE-740A-804831916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29025" cy="4351338"/>
          </a:xfrm>
        </p:spPr>
        <p:txBody>
          <a:bodyPr/>
          <a:lstStyle/>
          <a:p>
            <a:r>
              <a:rPr lang="en-US" dirty="0"/>
              <a:t>Click on Connection section,</a:t>
            </a:r>
          </a:p>
          <a:p>
            <a:r>
              <a:rPr lang="en-US" dirty="0"/>
              <a:t>So that connection is like this figure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F25D51-A5F4-F612-1DD8-3CC6E1494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675" y="103541"/>
            <a:ext cx="6124575" cy="649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26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79F6F-E226-0202-E5D6-2DD49D291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Assigning Base Address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244AE-1571-ED23-0985-9DF15F912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 on System </a:t>
            </a:r>
            <a:r>
              <a:rPr lang="en-US" dirty="0">
                <a:sym typeface="Wingdings" panose="05000000000000000000" pitchFamily="2" charset="2"/>
              </a:rPr>
              <a:t> Assign Base Address</a:t>
            </a:r>
          </a:p>
          <a:p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417002-1C73-F07A-214B-199891D01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45" y="2459355"/>
            <a:ext cx="9318636" cy="371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1560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3D578-5411-F900-45E2-0B2882937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 Processor Vectors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56521-ECE7-798C-FEE5-CA619FF21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970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Click</a:t>
            </a:r>
            <a:r>
              <a:rPr lang="id-ID" sz="2000" dirty="0"/>
              <a:t> </a:t>
            </a:r>
            <a:r>
              <a:rPr lang="en-US" sz="2000" dirty="0"/>
              <a:t>on</a:t>
            </a:r>
            <a:r>
              <a:rPr lang="id-ID" sz="2000" dirty="0"/>
              <a:t> “</a:t>
            </a:r>
            <a:r>
              <a:rPr lang="id-ID" sz="2000" b="1" dirty="0"/>
              <a:t>nios2_gen2_0</a:t>
            </a:r>
            <a:r>
              <a:rPr lang="id-ID" sz="2000" dirty="0"/>
              <a:t>” </a:t>
            </a:r>
            <a:r>
              <a:rPr lang="id-ID" sz="2000" dirty="0">
                <a:sym typeface="Wingdings" panose="05000000000000000000" pitchFamily="2" charset="2"/>
              </a:rPr>
              <a:t></a:t>
            </a:r>
            <a:r>
              <a:rPr lang="id-ID" sz="2000" dirty="0"/>
              <a:t> </a:t>
            </a:r>
            <a:r>
              <a:rPr lang="id-ID" sz="2000" b="1" dirty="0"/>
              <a:t>Parameter</a:t>
            </a:r>
            <a:r>
              <a:rPr lang="id-ID" sz="2000" dirty="0"/>
              <a:t> </a:t>
            </a:r>
            <a:r>
              <a:rPr lang="en-US" sz="2000" dirty="0"/>
              <a:t>window appear </a:t>
            </a:r>
            <a:r>
              <a:rPr lang="id-ID" sz="2000" dirty="0">
                <a:sym typeface="Wingdings" panose="05000000000000000000" pitchFamily="2" charset="2"/>
              </a:rPr>
              <a:t></a:t>
            </a:r>
            <a:r>
              <a:rPr lang="id-ID" sz="2000" dirty="0"/>
              <a:t> </a:t>
            </a:r>
            <a:r>
              <a:rPr lang="en-US" sz="2000" dirty="0"/>
              <a:t>click </a:t>
            </a:r>
            <a:r>
              <a:rPr lang="id-ID" sz="2000" dirty="0"/>
              <a:t> tab/menu ” </a:t>
            </a:r>
            <a:r>
              <a:rPr lang="id-ID" sz="2000" b="1" dirty="0"/>
              <a:t>Vectors</a:t>
            </a:r>
            <a:r>
              <a:rPr lang="id-ID" sz="2000" dirty="0"/>
              <a:t>“:</a:t>
            </a:r>
            <a:endParaRPr lang="en-US" sz="2000" dirty="0"/>
          </a:p>
          <a:p>
            <a:pPr lvl="0"/>
            <a:r>
              <a:rPr lang="en-US" sz="1800" dirty="0"/>
              <a:t>In section </a:t>
            </a:r>
            <a:r>
              <a:rPr lang="id-ID" sz="1800" dirty="0"/>
              <a:t>“</a:t>
            </a:r>
            <a:r>
              <a:rPr lang="id-ID" sz="1800" b="1" dirty="0"/>
              <a:t>Reset vector memory :</a:t>
            </a:r>
            <a:r>
              <a:rPr lang="id-ID" sz="1800" dirty="0"/>
              <a:t>” </a:t>
            </a:r>
            <a:r>
              <a:rPr lang="en-US" sz="1800" dirty="0"/>
              <a:t>choose</a:t>
            </a:r>
            <a:r>
              <a:rPr lang="id-ID" sz="1800" dirty="0"/>
              <a:t> “</a:t>
            </a:r>
            <a:r>
              <a:rPr lang="id-ID" sz="1800" b="1" dirty="0"/>
              <a:t>onchip_memory2_0.s1</a:t>
            </a:r>
            <a:r>
              <a:rPr lang="id-ID" sz="1800" dirty="0"/>
              <a:t>”</a:t>
            </a:r>
            <a:endParaRPr lang="en-ID" sz="1800" dirty="0"/>
          </a:p>
          <a:p>
            <a:pPr lvl="0"/>
            <a:r>
              <a:rPr lang="en-US" sz="1800" dirty="0"/>
              <a:t>In section</a:t>
            </a:r>
            <a:r>
              <a:rPr lang="id-ID" sz="1800" dirty="0"/>
              <a:t> “</a:t>
            </a:r>
            <a:r>
              <a:rPr lang="id-ID" sz="1800" b="1" dirty="0"/>
              <a:t>Exeption vector memory :</a:t>
            </a:r>
            <a:r>
              <a:rPr lang="id-ID" sz="1800" dirty="0"/>
              <a:t>” </a:t>
            </a:r>
            <a:r>
              <a:rPr lang="en-US" sz="1800" dirty="0"/>
              <a:t>choose</a:t>
            </a:r>
            <a:r>
              <a:rPr lang="id-ID" sz="1800" dirty="0"/>
              <a:t> “</a:t>
            </a:r>
            <a:r>
              <a:rPr lang="id-ID" sz="1800" b="1" dirty="0"/>
              <a:t>onchip_memory2_0.s1</a:t>
            </a:r>
            <a:r>
              <a:rPr lang="id-ID" sz="1800" dirty="0"/>
              <a:t>” </a:t>
            </a:r>
            <a:endParaRPr lang="en-ID" sz="1800" dirty="0"/>
          </a:p>
          <a:p>
            <a:pPr lvl="0"/>
            <a:r>
              <a:rPr lang="en-US" sz="1800" dirty="0"/>
              <a:t>close</a:t>
            </a:r>
            <a:r>
              <a:rPr lang="id-ID" sz="1800" dirty="0"/>
              <a:t> </a:t>
            </a:r>
            <a:r>
              <a:rPr lang="id-ID" sz="1800" b="1" dirty="0"/>
              <a:t>Parameter</a:t>
            </a:r>
            <a:r>
              <a:rPr lang="en-US" sz="1800" b="1" dirty="0"/>
              <a:t> window</a:t>
            </a:r>
            <a:endParaRPr lang="en-ID" sz="1800" dirty="0"/>
          </a:p>
          <a:p>
            <a:endParaRPr lang="en-ID" sz="2000" dirty="0"/>
          </a:p>
          <a:p>
            <a:endParaRPr lang="en-ID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3DB269-490C-4054-914C-9C4F71389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49" y="3105150"/>
            <a:ext cx="7208875" cy="32051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BCD776-8F7B-D9AB-8D54-7446F0B9D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727" y="3548063"/>
            <a:ext cx="4264898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068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CBF0-2098-A595-4A5D-E972D8F84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Conduit name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6ED1F-B15D-2847-F313-70CAAE0BB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Double-click</a:t>
            </a:r>
            <a:r>
              <a:rPr lang="id-ID" dirty="0"/>
              <a:t> </a:t>
            </a:r>
            <a:r>
              <a:rPr lang="en-US" dirty="0"/>
              <a:t>in </a:t>
            </a:r>
            <a:r>
              <a:rPr lang="id-ID" b="1" dirty="0"/>
              <a:t>CustomIP_0</a:t>
            </a:r>
            <a:r>
              <a:rPr lang="id-ID" dirty="0"/>
              <a:t>, </a:t>
            </a:r>
            <a:r>
              <a:rPr lang="en-US" dirty="0" err="1"/>
              <a:t>rightside</a:t>
            </a:r>
            <a:r>
              <a:rPr lang="en-US" dirty="0"/>
              <a:t> of </a:t>
            </a:r>
            <a:r>
              <a:rPr lang="id-ID" dirty="0"/>
              <a:t>“</a:t>
            </a:r>
            <a:r>
              <a:rPr lang="id-ID" b="1" dirty="0"/>
              <a:t>Conduit</a:t>
            </a:r>
            <a:r>
              <a:rPr lang="id-ID" dirty="0"/>
              <a:t>” </a:t>
            </a:r>
            <a:r>
              <a:rPr lang="en-US" dirty="0"/>
              <a:t>change to </a:t>
            </a:r>
            <a:r>
              <a:rPr lang="id-ID" dirty="0"/>
              <a:t>“LED_OUT” </a:t>
            </a:r>
            <a:r>
              <a:rPr lang="id-ID" dirty="0">
                <a:sym typeface="Wingdings" panose="05000000000000000000" pitchFamily="2" charset="2"/>
              </a:rPr>
              <a:t></a:t>
            </a:r>
            <a:r>
              <a:rPr lang="id-ID" dirty="0"/>
              <a:t> enter</a:t>
            </a:r>
            <a:endParaRPr lang="en-ID" dirty="0"/>
          </a:p>
          <a:p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9661E7-A4DA-EE98-E40A-DC6A8C5C7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97" y="3294062"/>
            <a:ext cx="10560271" cy="157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013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744F9-B1ED-CF95-C628-DD85036F3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SoC Design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DE1EE-2BC6-9FCE-EE9A-AB780D032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Save this QSYS design as </a:t>
            </a:r>
            <a:r>
              <a:rPr lang="en-US" dirty="0" err="1"/>
              <a:t>project_soc</a:t>
            </a:r>
            <a:r>
              <a:rPr lang="en-US" dirty="0"/>
              <a:t> </a:t>
            </a:r>
          </a:p>
          <a:p>
            <a:r>
              <a:rPr lang="en-US" dirty="0"/>
              <a:t>(must be same as the </a:t>
            </a:r>
            <a:r>
              <a:rPr lang="en-US" dirty="0" err="1"/>
              <a:t>quartus</a:t>
            </a:r>
            <a:r>
              <a:rPr lang="en-US" dirty="0"/>
              <a:t> project name)</a:t>
            </a:r>
          </a:p>
          <a:p>
            <a:r>
              <a:rPr lang="en-US" dirty="0"/>
              <a:t> </a:t>
            </a:r>
            <a:endParaRPr lang="en-ID" dirty="0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40FCB5B1-C45F-89E5-A32C-BCE3D68AC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2971800"/>
            <a:ext cx="5505842" cy="361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91168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25523-9538-C5F2-BEE3-173FEEC2A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Generate file HDL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A76E0-EB62-E256-61AE-AB679F001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1" dirty="0"/>
              <a:t>Generate</a:t>
            </a:r>
            <a:r>
              <a:rPr lang="id-ID" dirty="0"/>
              <a:t> &gt;&gt; </a:t>
            </a:r>
            <a:r>
              <a:rPr lang="id-ID" b="1" dirty="0"/>
              <a:t>Generate HDL... </a:t>
            </a:r>
            <a:r>
              <a:rPr lang="id-ID" b="1" dirty="0">
                <a:sym typeface="Wingdings" panose="05000000000000000000" pitchFamily="2" charset="2"/>
              </a:rPr>
              <a:t></a:t>
            </a:r>
            <a:r>
              <a:rPr lang="id-ID" b="1" dirty="0"/>
              <a:t> Generate </a:t>
            </a:r>
            <a:r>
              <a:rPr lang="id-ID" b="1" dirty="0">
                <a:sym typeface="Wingdings" panose="05000000000000000000" pitchFamily="2" charset="2"/>
              </a:rPr>
              <a:t></a:t>
            </a:r>
            <a:r>
              <a:rPr lang="id-ID" b="1" dirty="0"/>
              <a:t> Close</a:t>
            </a:r>
            <a:endParaRPr lang="en-ID" dirty="0"/>
          </a:p>
          <a:p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8E2612-80C7-C950-C687-8FFE1A125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4" y="2286316"/>
            <a:ext cx="6115051" cy="4351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96C5DF-56CC-D842-01E6-47A1F2D66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599" y="3423285"/>
            <a:ext cx="4226024" cy="306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9013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8018-603A-27E1-9510-7FF18FE51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Generate Testbench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C1B28-291C-CE00-40ED-F73184F8D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1" dirty="0"/>
              <a:t>Generate</a:t>
            </a:r>
            <a:r>
              <a:rPr lang="id-ID" dirty="0"/>
              <a:t> &gt;&gt; </a:t>
            </a:r>
            <a:r>
              <a:rPr lang="id-ID" b="1" dirty="0"/>
              <a:t>Generate Testbench System... </a:t>
            </a:r>
            <a:r>
              <a:rPr lang="id-ID" b="1" dirty="0">
                <a:sym typeface="Wingdings" panose="05000000000000000000" pitchFamily="2" charset="2"/>
              </a:rPr>
              <a:t></a:t>
            </a:r>
            <a:r>
              <a:rPr lang="id-ID" b="1" dirty="0"/>
              <a:t> Generate </a:t>
            </a:r>
            <a:r>
              <a:rPr lang="id-ID" b="1" dirty="0">
                <a:sym typeface="Wingdings" panose="05000000000000000000" pitchFamily="2" charset="2"/>
              </a:rPr>
              <a:t></a:t>
            </a:r>
            <a:r>
              <a:rPr lang="id-ID" b="1" dirty="0"/>
              <a:t> Close</a:t>
            </a:r>
            <a:endParaRPr lang="en-ID" dirty="0"/>
          </a:p>
          <a:p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D1AB81-2F9C-8F89-408D-9E3F4DFBE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2927033"/>
            <a:ext cx="7453548" cy="33166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8E907A-8BA1-1DD3-681A-48DDF5683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183" y="3495675"/>
            <a:ext cx="4067969" cy="274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4828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8AFAF-E8EF-5818-7DCD-424640DFC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Platform Designer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A4FF8-CC6B-04C7-0D95-5409E04F8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Close </a:t>
            </a:r>
            <a:r>
              <a:rPr lang="id-ID" b="1" dirty="0"/>
              <a:t>Platform Designer </a:t>
            </a:r>
            <a:r>
              <a:rPr lang="en-US" dirty="0"/>
              <a:t>with</a:t>
            </a:r>
            <a:r>
              <a:rPr lang="id-ID" dirty="0"/>
              <a:t> </a:t>
            </a:r>
            <a:r>
              <a:rPr lang="en-US" dirty="0"/>
              <a:t>Clicking</a:t>
            </a:r>
            <a:r>
              <a:rPr lang="id-ID" dirty="0"/>
              <a:t>“</a:t>
            </a:r>
            <a:r>
              <a:rPr lang="id-ID" b="1" dirty="0"/>
              <a:t>Finish</a:t>
            </a:r>
            <a:r>
              <a:rPr lang="id-ID" dirty="0"/>
              <a:t>” di </a:t>
            </a:r>
            <a:r>
              <a:rPr lang="en-US" dirty="0"/>
              <a:t>bottom-right corner of the window</a:t>
            </a:r>
            <a:r>
              <a:rPr lang="id-ID" dirty="0"/>
              <a:t>.</a:t>
            </a:r>
            <a:endParaRPr lang="en-US" dirty="0"/>
          </a:p>
          <a:p>
            <a:r>
              <a:rPr lang="en-US" dirty="0"/>
              <a:t>Will appear warning to include your </a:t>
            </a:r>
            <a:r>
              <a:rPr lang="id-ID" dirty="0"/>
              <a:t>*.qip </a:t>
            </a:r>
            <a:r>
              <a:rPr lang="en-US" dirty="0"/>
              <a:t>file to </a:t>
            </a:r>
            <a:r>
              <a:rPr lang="id-ID" dirty="0"/>
              <a:t>quartus.</a:t>
            </a:r>
            <a:r>
              <a:rPr lang="en-US" dirty="0"/>
              <a:t>project </a:t>
            </a:r>
            <a:r>
              <a:rPr lang="id-ID" dirty="0"/>
              <a:t> </a:t>
            </a:r>
            <a:r>
              <a:rPr lang="en-US" dirty="0"/>
              <a:t>click</a:t>
            </a:r>
            <a:r>
              <a:rPr lang="id-ID" dirty="0"/>
              <a:t> </a:t>
            </a:r>
            <a:r>
              <a:rPr lang="id-ID" b="1" dirty="0"/>
              <a:t>OK</a:t>
            </a:r>
            <a:endParaRPr lang="en-ID" dirty="0"/>
          </a:p>
          <a:p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6BC15B-B680-DE51-4B6D-4D95677C8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4225131"/>
            <a:ext cx="3738536" cy="21637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1CFAC4-1426-3589-9C79-6E685D47B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262" y="3623786"/>
            <a:ext cx="4339280" cy="318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8575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53170-ACED-DA37-E1B5-319FBA900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 files to Quartus Project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2E373-C5DB-B27F-C5F2-99DACE044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525"/>
            <a:ext cx="10515600" cy="4643438"/>
          </a:xfrm>
        </p:spPr>
        <p:txBody>
          <a:bodyPr>
            <a:normAutofit/>
          </a:bodyPr>
          <a:lstStyle/>
          <a:p>
            <a:r>
              <a:rPr lang="en-US" altLang="en-US" sz="20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</a:t>
            </a:r>
            <a:r>
              <a:rPr lang="id-ID" altLang="en-US" sz="20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</a:t>
            </a:r>
            <a:r>
              <a:rPr lang="id-ID" altLang="en-US" sz="20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uartus</a:t>
            </a:r>
            <a:r>
              <a:rPr lang="en-US" altLang="en-US" sz="20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main window</a:t>
            </a:r>
            <a:r>
              <a:rPr lang="id-ID" altLang="en-US" sz="20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id-ID" altLang="en-US" sz="2000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Project</a:t>
            </a:r>
            <a:r>
              <a:rPr lang="id-ID" altLang="en-US" sz="20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&gt;&gt; </a:t>
            </a:r>
            <a:r>
              <a:rPr lang="id-ID" altLang="en-US" sz="2000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Add/Remove Files in Project...</a:t>
            </a:r>
            <a:endParaRPr lang="en-US" altLang="en-US" sz="2000" b="1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id-ID" sz="2000" dirty="0"/>
              <a:t>Klik bagian “</a:t>
            </a:r>
            <a:r>
              <a:rPr lang="id-ID" sz="2000" b="1" dirty="0"/>
              <a:t>...</a:t>
            </a:r>
            <a:r>
              <a:rPr lang="id-ID" sz="2000" dirty="0"/>
              <a:t>” di sebelah kanan “</a:t>
            </a:r>
            <a:r>
              <a:rPr lang="id-ID" sz="2000" b="1" dirty="0"/>
              <a:t>File name”</a:t>
            </a:r>
            <a:r>
              <a:rPr lang="id-ID" sz="2000" dirty="0"/>
              <a:t>, dan arahkan ke folder </a:t>
            </a:r>
            <a:r>
              <a:rPr lang="id-ID" sz="2000" b="1" dirty="0"/>
              <a:t>Proyek</a:t>
            </a:r>
            <a:r>
              <a:rPr lang="en-US" sz="2000" b="1" dirty="0"/>
              <a:t>_soc</a:t>
            </a:r>
            <a:r>
              <a:rPr lang="id-ID" sz="2000" b="1" dirty="0"/>
              <a:t>/synthesis </a:t>
            </a:r>
            <a:r>
              <a:rPr lang="id-ID" sz="2000" dirty="0"/>
              <a:t>dan pilih file </a:t>
            </a:r>
            <a:r>
              <a:rPr lang="id-ID" sz="2000" b="1" dirty="0"/>
              <a:t>Proyek</a:t>
            </a:r>
            <a:r>
              <a:rPr lang="en-US" sz="2000" b="1" dirty="0"/>
              <a:t>_soc</a:t>
            </a:r>
            <a:r>
              <a:rPr lang="id-ID" sz="2000" b="1" dirty="0"/>
              <a:t>.qip </a:t>
            </a:r>
            <a:r>
              <a:rPr lang="id-ID" sz="2000" dirty="0">
                <a:sym typeface="Wingdings" panose="05000000000000000000" pitchFamily="2" charset="2"/>
              </a:rPr>
              <a:t></a:t>
            </a:r>
            <a:r>
              <a:rPr lang="id-ID" sz="2000" dirty="0"/>
              <a:t> </a:t>
            </a:r>
            <a:r>
              <a:rPr lang="id-ID" sz="2000" b="1" dirty="0"/>
              <a:t>open</a:t>
            </a:r>
            <a:r>
              <a:rPr lang="id-ID" sz="2000" dirty="0"/>
              <a:t> </a:t>
            </a:r>
            <a:r>
              <a:rPr lang="id-ID" sz="2000" dirty="0">
                <a:sym typeface="Wingdings" panose="05000000000000000000" pitchFamily="2" charset="2"/>
              </a:rPr>
              <a:t></a:t>
            </a:r>
            <a:r>
              <a:rPr lang="id-ID" sz="2000" dirty="0"/>
              <a:t> </a:t>
            </a:r>
            <a:r>
              <a:rPr lang="id-ID" sz="2000" b="1" dirty="0"/>
              <a:t>OK</a:t>
            </a:r>
            <a:endParaRPr lang="en-ID" sz="2000" dirty="0"/>
          </a:p>
          <a:p>
            <a:endParaRPr kumimoji="0" lang="id-ID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en-ID" sz="2000" dirty="0"/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FC66D492-2EB3-F796-EC03-050086145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2859088"/>
            <a:ext cx="7655170" cy="3154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7667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02D6E-5DA9-B9A3-0A7C-D6932D581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&amp; Pin assignment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C495A-71E0-8828-776E-E7D4E73FE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Analysis and Synthesis</a:t>
            </a:r>
          </a:p>
          <a:p>
            <a:r>
              <a:rPr lang="en-ID" dirty="0"/>
              <a:t>Do Pin Planner :</a:t>
            </a:r>
          </a:p>
          <a:p>
            <a:pPr lvl="1"/>
            <a:r>
              <a:rPr lang="en-ID" dirty="0"/>
              <a:t>CLK pin</a:t>
            </a:r>
          </a:p>
          <a:p>
            <a:pPr lvl="1"/>
            <a:r>
              <a:rPr lang="en-ID" dirty="0"/>
              <a:t>10 led pin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757776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48CFE-EE2A-F4D7-9E51-EB1AEAE79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Part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B94DB-97AF-4CCF-5E27-6FE0C51F0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76317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BBCCB-A391-95E0-319C-E781A3C2B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Nios</a:t>
            </a:r>
            <a:r>
              <a:rPr lang="en-US" dirty="0"/>
              <a:t>-II Software IDE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BA5FB-6C46-2FA2-2BDE-9B9C20517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24400" cy="4351338"/>
          </a:xfrm>
        </p:spPr>
        <p:txBody>
          <a:bodyPr/>
          <a:lstStyle/>
          <a:p>
            <a:r>
              <a:rPr lang="id-ID" b="1" dirty="0"/>
              <a:t>Tools</a:t>
            </a:r>
            <a:r>
              <a:rPr lang="id-ID" dirty="0"/>
              <a:t> &gt;&gt; </a:t>
            </a:r>
            <a:r>
              <a:rPr lang="id-ID" b="1" dirty="0"/>
              <a:t>Nios II Software Build Tools for Eclipse</a:t>
            </a:r>
            <a:endParaRPr lang="en-ID" dirty="0"/>
          </a:p>
          <a:p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2BF716-01CD-3DDD-DFE8-5375545E3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24292"/>
            <a:ext cx="5667695" cy="529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973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9F71D-CD5D-7725-BE91-4B19A750D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Workspace Launcher.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313E8-DA7A-C212-C42D-C352BE92A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5" y="1638301"/>
            <a:ext cx="10515600" cy="4351338"/>
          </a:xfrm>
        </p:spPr>
        <p:txBody>
          <a:bodyPr/>
          <a:lstStyle/>
          <a:p>
            <a:pPr lvl="1"/>
            <a:r>
              <a:rPr lang="en-US" dirty="0"/>
              <a:t>Point to </a:t>
            </a:r>
            <a:r>
              <a:rPr lang="id-ID" dirty="0"/>
              <a:t>folder </a:t>
            </a:r>
            <a:r>
              <a:rPr lang="en-US" dirty="0"/>
              <a:t>where your </a:t>
            </a:r>
            <a:r>
              <a:rPr lang="id-ID" dirty="0"/>
              <a:t>quartus </a:t>
            </a:r>
            <a:r>
              <a:rPr lang="en-US" dirty="0"/>
              <a:t>project is</a:t>
            </a:r>
            <a:r>
              <a:rPr lang="id-ID" dirty="0"/>
              <a:t>, </a:t>
            </a:r>
            <a:r>
              <a:rPr lang="en-US" dirty="0"/>
              <a:t>then create new </a:t>
            </a:r>
            <a:r>
              <a:rPr lang="id-ID" dirty="0"/>
              <a:t>folder </a:t>
            </a:r>
            <a:r>
              <a:rPr lang="en-US" dirty="0"/>
              <a:t>named </a:t>
            </a:r>
            <a:r>
              <a:rPr lang="id-ID" b="1" dirty="0"/>
              <a:t>Software</a:t>
            </a:r>
            <a:r>
              <a:rPr lang="id-ID" dirty="0"/>
              <a:t>, </a:t>
            </a:r>
            <a:r>
              <a:rPr lang="en-US" dirty="0"/>
              <a:t>then choose that </a:t>
            </a:r>
            <a:r>
              <a:rPr lang="id-ID" b="1" dirty="0"/>
              <a:t>Software</a:t>
            </a:r>
            <a:r>
              <a:rPr lang="id-ID" dirty="0"/>
              <a:t> </a:t>
            </a:r>
            <a:r>
              <a:rPr lang="en-US" dirty="0"/>
              <a:t>folder </a:t>
            </a:r>
            <a:r>
              <a:rPr lang="id-ID" dirty="0">
                <a:sym typeface="Wingdings" panose="05000000000000000000" pitchFamily="2" charset="2"/>
              </a:rPr>
              <a:t></a:t>
            </a:r>
            <a:r>
              <a:rPr lang="id-ID" dirty="0"/>
              <a:t> klik </a:t>
            </a:r>
            <a:r>
              <a:rPr lang="id-ID" b="1" dirty="0"/>
              <a:t>Ok </a:t>
            </a:r>
            <a:r>
              <a:rPr lang="id-ID" dirty="0"/>
              <a:t>. </a:t>
            </a:r>
            <a:endParaRPr lang="en-US" dirty="0"/>
          </a:p>
          <a:p>
            <a:pPr lvl="1"/>
            <a:r>
              <a:rPr lang="id-ID" dirty="0"/>
              <a:t>(</a:t>
            </a:r>
            <a:r>
              <a:rPr lang="en-US" dirty="0"/>
              <a:t>for example</a:t>
            </a:r>
            <a:r>
              <a:rPr lang="id-ID" dirty="0"/>
              <a:t> </a:t>
            </a:r>
            <a:r>
              <a:rPr lang="en-US" dirty="0"/>
              <a:t>full </a:t>
            </a:r>
            <a:r>
              <a:rPr lang="id-ID" dirty="0"/>
              <a:t>folder </a:t>
            </a:r>
            <a:r>
              <a:rPr lang="en-US" dirty="0"/>
              <a:t>name is </a:t>
            </a:r>
            <a:r>
              <a:rPr lang="id-ID" dirty="0"/>
              <a:t>D:\Altera\Design\Proyek</a:t>
            </a:r>
            <a:r>
              <a:rPr lang="en-US" dirty="0"/>
              <a:t>_soc</a:t>
            </a:r>
            <a:r>
              <a:rPr lang="id-ID" dirty="0"/>
              <a:t>\Software)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C8C6C8-1219-8B2F-E6D7-FB5EE1D93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2859089"/>
            <a:ext cx="4715640" cy="23606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32A752-03E1-8BFF-3BC6-34E4BED62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740" y="2706719"/>
            <a:ext cx="3190875" cy="32162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159475-3A81-8E1E-1CEA-14F072C67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6081392"/>
            <a:ext cx="6426696" cy="67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9757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67912-A731-8E59-B22A-997CF3E50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575C5-2F5B-6336-D3C7-3537CA66D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Then in </a:t>
            </a:r>
            <a:r>
              <a:rPr lang="id-ID" dirty="0"/>
              <a:t>Nios II – Eclipse</a:t>
            </a:r>
            <a:r>
              <a:rPr lang="en-US" dirty="0"/>
              <a:t> windows</a:t>
            </a:r>
            <a:r>
              <a:rPr lang="id-ID" dirty="0"/>
              <a:t>, </a:t>
            </a:r>
            <a:r>
              <a:rPr lang="en-US" dirty="0"/>
              <a:t>choose </a:t>
            </a:r>
            <a:r>
              <a:rPr lang="id-ID" b="1" dirty="0"/>
              <a:t>File</a:t>
            </a:r>
            <a:r>
              <a:rPr lang="id-ID" dirty="0"/>
              <a:t> &gt;&gt; </a:t>
            </a:r>
            <a:r>
              <a:rPr lang="id-ID" b="1" dirty="0"/>
              <a:t>New</a:t>
            </a:r>
            <a:r>
              <a:rPr lang="id-ID" dirty="0"/>
              <a:t> &gt;&gt; </a:t>
            </a:r>
            <a:r>
              <a:rPr lang="id-ID" b="1" dirty="0"/>
              <a:t>Nios II Application and BSP from Template</a:t>
            </a:r>
            <a:endParaRPr lang="en-US" b="1" dirty="0"/>
          </a:p>
          <a:p>
            <a:endParaRPr lang="en-ID" dirty="0"/>
          </a:p>
          <a:p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83D647-618D-08B8-8620-3D0FB1C10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530" y="2688907"/>
            <a:ext cx="8908940" cy="380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5352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316F6-2CAC-5A2E-5556-1796685C9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27872-E855-C437-90C4-6ED4F4A15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825625"/>
            <a:ext cx="5762625" cy="3794125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In Next windows, choose/fill </a:t>
            </a:r>
            <a:r>
              <a:rPr lang="id-ID" dirty="0"/>
              <a:t>:</a:t>
            </a:r>
            <a:endParaRPr lang="en-ID" dirty="0"/>
          </a:p>
          <a:p>
            <a:pPr lvl="2"/>
            <a:r>
              <a:rPr lang="id-ID" dirty="0"/>
              <a:t>SOPC Information File Name : </a:t>
            </a:r>
            <a:r>
              <a:rPr lang="id-ID" b="1" dirty="0"/>
              <a:t>D:\Altera\Desain\Pro</a:t>
            </a:r>
            <a:r>
              <a:rPr lang="en-US" b="1" dirty="0" err="1"/>
              <a:t>ject_soc</a:t>
            </a:r>
            <a:r>
              <a:rPr lang="id-ID" b="1" dirty="0"/>
              <a:t>\Pro</a:t>
            </a:r>
            <a:r>
              <a:rPr lang="en-US" b="1" dirty="0" err="1"/>
              <a:t>ject_soc</a:t>
            </a:r>
            <a:r>
              <a:rPr lang="id-ID" b="1" dirty="0"/>
              <a:t>.sopcinfo</a:t>
            </a:r>
            <a:endParaRPr lang="en-ID" dirty="0"/>
          </a:p>
          <a:p>
            <a:pPr lvl="2"/>
            <a:r>
              <a:rPr lang="id-ID" dirty="0"/>
              <a:t>Project Name : </a:t>
            </a:r>
            <a:r>
              <a:rPr lang="id-ID" b="1" dirty="0"/>
              <a:t>Nios-LED </a:t>
            </a:r>
            <a:r>
              <a:rPr lang="id-ID" dirty="0"/>
              <a:t>(</a:t>
            </a:r>
            <a:r>
              <a:rPr lang="en-US" dirty="0"/>
              <a:t>must different with project name</a:t>
            </a:r>
            <a:r>
              <a:rPr lang="id-ID" dirty="0"/>
              <a:t>)</a:t>
            </a:r>
            <a:endParaRPr lang="en-ID" dirty="0"/>
          </a:p>
          <a:p>
            <a:pPr lvl="2"/>
            <a:r>
              <a:rPr lang="id-ID" dirty="0"/>
              <a:t>Project Template : </a:t>
            </a:r>
            <a:r>
              <a:rPr lang="id-ID" b="1" dirty="0"/>
              <a:t>Hello World </a:t>
            </a:r>
            <a:r>
              <a:rPr lang="en-US" dirty="0"/>
              <a:t>or </a:t>
            </a:r>
            <a:r>
              <a:rPr lang="id-ID" dirty="0"/>
              <a:t> </a:t>
            </a:r>
            <a:r>
              <a:rPr lang="id-ID" b="1" dirty="0"/>
              <a:t>Hello World Small</a:t>
            </a:r>
            <a:endParaRPr lang="en-ID" dirty="0"/>
          </a:p>
          <a:p>
            <a:pPr lvl="2"/>
            <a:r>
              <a:rPr lang="en-US" dirty="0"/>
              <a:t>c</a:t>
            </a:r>
            <a:r>
              <a:rPr lang="id-ID" dirty="0"/>
              <a:t>li</a:t>
            </a:r>
            <a:r>
              <a:rPr lang="en-US" dirty="0"/>
              <a:t>c</a:t>
            </a:r>
            <a:r>
              <a:rPr lang="id-ID" dirty="0"/>
              <a:t>k </a:t>
            </a:r>
            <a:r>
              <a:rPr lang="id-ID" b="1" dirty="0"/>
              <a:t>Finish</a:t>
            </a:r>
            <a:endParaRPr lang="en-ID" dirty="0"/>
          </a:p>
          <a:p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DF0F13-FE8A-C64B-E1A0-959DC7E2A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929890"/>
            <a:ext cx="5257800" cy="558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6186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E1714-2076-45B9-E29E-2C2C2DDB6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281D9-2183-3C4D-9ECA-DF9CAA542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Buka file </a:t>
            </a:r>
            <a:r>
              <a:rPr lang="id-ID" b="1" dirty="0"/>
              <a:t>hello_world.c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r>
              <a:rPr lang="en-ID" dirty="0"/>
              <a:t>Save, then Compile file program : </a:t>
            </a:r>
            <a:r>
              <a:rPr lang="en-ID" b="1" dirty="0"/>
              <a:t>Project</a:t>
            </a:r>
            <a:r>
              <a:rPr lang="en-ID" dirty="0"/>
              <a:t> &gt;&gt; </a:t>
            </a:r>
            <a:r>
              <a:rPr lang="en-ID" b="1" dirty="0"/>
              <a:t>Build All</a:t>
            </a:r>
            <a:endParaRPr lang="en-ID" dirty="0"/>
          </a:p>
          <a:p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750E88-639E-D446-69D1-93BE5909C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792" y="2234247"/>
            <a:ext cx="3845108" cy="38508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082A9E-A049-704D-A065-9EB6FA317295}"/>
              </a:ext>
            </a:extLst>
          </p:cNvPr>
          <p:cNvSpPr txBox="1"/>
          <p:nvPr/>
        </p:nvSpPr>
        <p:spPr>
          <a:xfrm>
            <a:off x="4217803" y="4629150"/>
            <a:ext cx="2047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 to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BF7CA-C4C7-F747-F44A-CE43E4790782}"/>
              </a:ext>
            </a:extLst>
          </p:cNvPr>
          <p:cNvSpPr txBox="1"/>
          <p:nvPr/>
        </p:nvSpPr>
        <p:spPr>
          <a:xfrm>
            <a:off x="6528501" y="1990725"/>
            <a:ext cx="45624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b="1" dirty="0"/>
              <a:t>#include "sys/</a:t>
            </a:r>
            <a:r>
              <a:rPr lang="en-ID" sz="1400" b="1" dirty="0" err="1"/>
              <a:t>alt_stdio.h</a:t>
            </a:r>
            <a:r>
              <a:rPr lang="en-ID" sz="1400" b="1" dirty="0"/>
              <a:t>"</a:t>
            </a:r>
          </a:p>
          <a:p>
            <a:r>
              <a:rPr lang="en-ID" sz="1400" b="1" dirty="0"/>
              <a:t>#include "</a:t>
            </a:r>
            <a:r>
              <a:rPr lang="en-ID" sz="1400" b="1" dirty="0" err="1"/>
              <a:t>io.h</a:t>
            </a:r>
            <a:r>
              <a:rPr lang="en-ID" sz="1400" b="1" dirty="0"/>
              <a:t>"</a:t>
            </a:r>
          </a:p>
          <a:p>
            <a:r>
              <a:rPr lang="en-ID" sz="1400" b="1" dirty="0"/>
              <a:t>#include "</a:t>
            </a:r>
            <a:r>
              <a:rPr lang="en-ID" sz="1400" b="1" dirty="0" err="1"/>
              <a:t>system.h</a:t>
            </a:r>
            <a:r>
              <a:rPr lang="en-ID" sz="1400" b="1" dirty="0"/>
              <a:t>"</a:t>
            </a:r>
          </a:p>
          <a:p>
            <a:endParaRPr lang="en-ID" sz="1400" dirty="0"/>
          </a:p>
          <a:p>
            <a:r>
              <a:rPr lang="en-ID" sz="1400" b="1" dirty="0"/>
              <a:t>int main()</a:t>
            </a:r>
          </a:p>
          <a:p>
            <a:r>
              <a:rPr lang="en-ID" sz="1400" dirty="0"/>
              <a:t>{ </a:t>
            </a:r>
          </a:p>
          <a:p>
            <a:r>
              <a:rPr lang="en-ID" sz="1400" dirty="0"/>
              <a:t>  </a:t>
            </a:r>
            <a:r>
              <a:rPr lang="en-ID" sz="1400" dirty="0" err="1"/>
              <a:t>printf</a:t>
            </a:r>
            <a:r>
              <a:rPr lang="en-ID" sz="1400" dirty="0"/>
              <a:t> ("Hello from </a:t>
            </a:r>
            <a:r>
              <a:rPr lang="en-ID" sz="1400" u="sng" dirty="0" err="1"/>
              <a:t>Nios</a:t>
            </a:r>
            <a:r>
              <a:rPr lang="en-ID" sz="1400" u="sng" dirty="0"/>
              <a:t> II!\n");</a:t>
            </a:r>
          </a:p>
          <a:p>
            <a:endParaRPr lang="en-ID" sz="1400" dirty="0"/>
          </a:p>
          <a:p>
            <a:r>
              <a:rPr lang="en-ID" sz="1400" dirty="0"/>
              <a:t>/* Event loop never exits. */</a:t>
            </a:r>
          </a:p>
          <a:p>
            <a:r>
              <a:rPr lang="en-ID" sz="1400" dirty="0"/>
              <a:t>  </a:t>
            </a:r>
            <a:r>
              <a:rPr lang="en-ID" sz="1400" b="1" dirty="0"/>
              <a:t>while (1){</a:t>
            </a:r>
          </a:p>
          <a:p>
            <a:r>
              <a:rPr lang="en-US" sz="1400" dirty="0"/>
              <a:t> 	IOWR(LEDS_0_BASE, 0, 0x155);</a:t>
            </a:r>
          </a:p>
          <a:p>
            <a:r>
              <a:rPr lang="en-ID" sz="1400" dirty="0"/>
              <a:t>  	</a:t>
            </a:r>
            <a:r>
              <a:rPr lang="en-ID" sz="1400" dirty="0" err="1"/>
              <a:t>usleep</a:t>
            </a:r>
            <a:r>
              <a:rPr lang="en-ID" sz="1400" dirty="0"/>
              <a:t>(10000000);</a:t>
            </a:r>
          </a:p>
          <a:p>
            <a:r>
              <a:rPr lang="en-US" sz="1400" dirty="0"/>
              <a:t>  	IOWR(LEDS_0_BASE, 0, 0x2AA);</a:t>
            </a:r>
          </a:p>
          <a:p>
            <a:r>
              <a:rPr lang="en-US" sz="1400" dirty="0"/>
              <a:t>}</a:t>
            </a:r>
            <a:endParaRPr lang="en-ID" sz="1400" dirty="0"/>
          </a:p>
          <a:p>
            <a:r>
              <a:rPr lang="en-ID" sz="1400" dirty="0"/>
              <a:t>  </a:t>
            </a:r>
            <a:r>
              <a:rPr lang="en-ID" sz="1400" b="1" dirty="0"/>
              <a:t>return 0;</a:t>
            </a:r>
          </a:p>
          <a:p>
            <a:r>
              <a:rPr lang="en-ID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625702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107FC-99DD-4032-9B12-1BF2C59AF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ELF file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34FDF-F059-02EB-60FA-9B774CB4C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52900" cy="4351338"/>
          </a:xfrm>
        </p:spPr>
        <p:txBody>
          <a:bodyPr/>
          <a:lstStyle/>
          <a:p>
            <a:r>
              <a:rPr lang="en-US" dirty="0"/>
              <a:t>If success, created :</a:t>
            </a:r>
          </a:p>
          <a:p>
            <a:pPr marL="0" indent="0">
              <a:buNone/>
            </a:pPr>
            <a:r>
              <a:rPr lang="en-US" dirty="0"/>
              <a:t>*_</a:t>
            </a:r>
            <a:r>
              <a:rPr lang="en-US" dirty="0" err="1"/>
              <a:t>onchip_memory</a:t>
            </a:r>
            <a:r>
              <a:rPr lang="en-US" dirty="0"/>
              <a:t>*.hex</a:t>
            </a:r>
          </a:p>
          <a:p>
            <a:r>
              <a:rPr lang="en-ID" dirty="0"/>
              <a:t>In </a:t>
            </a:r>
            <a:r>
              <a:rPr lang="en-ID" dirty="0" err="1"/>
              <a:t>mem_init</a:t>
            </a:r>
            <a:r>
              <a:rPr lang="en-ID" dirty="0"/>
              <a:t> folder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D4FF9F-25DC-2770-5DBD-F89350097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752" y="1655511"/>
            <a:ext cx="6575895" cy="483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9962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C16B-3A1A-16EB-9726-D4E48383D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to Platform designer</a:t>
            </a:r>
            <a:br>
              <a:rPr lang="en-US" dirty="0"/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9D104-791F-7A20-0252-A33B909A2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2250"/>
            <a:ext cx="1051560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Choose komponen </a:t>
            </a:r>
            <a:r>
              <a:rPr lang="en-US" sz="1800" b="1" dirty="0" err="1"/>
              <a:t>onchip_memory</a:t>
            </a:r>
            <a:r>
              <a:rPr lang="en-US" sz="1800" b="1" dirty="0"/>
              <a:t>*</a:t>
            </a:r>
            <a:r>
              <a:rPr lang="en-US" sz="1800" dirty="0"/>
              <a:t>, double-click</a:t>
            </a:r>
          </a:p>
          <a:p>
            <a:r>
              <a:rPr lang="en-US" sz="1800" dirty="0"/>
              <a:t>Check the “Enable non-default initialization file”</a:t>
            </a:r>
          </a:p>
          <a:p>
            <a:r>
              <a:rPr lang="en-ID" sz="1800" dirty="0"/>
              <a:t>On user created file : point to C:/altera/project_soc/software/mem_init/*onchip_memory*.hex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D1B69E-5EB3-76B0-87DD-D66CB93A0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2" y="2677118"/>
            <a:ext cx="10277475" cy="395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8880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933E-E641-D8F0-5B70-FE7C67812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Compiling ALL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4D0D0-8EF4-03F6-53C4-4E8924671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Re-generate the HDL File</a:t>
            </a:r>
          </a:p>
          <a:p>
            <a:pPr marL="0" indent="0">
              <a:buNone/>
            </a:pPr>
            <a:r>
              <a:rPr lang="id-ID" b="1" dirty="0"/>
              <a:t>Generate</a:t>
            </a:r>
            <a:r>
              <a:rPr lang="id-ID" dirty="0"/>
              <a:t> &gt;&gt; </a:t>
            </a:r>
            <a:r>
              <a:rPr lang="id-ID" b="1" dirty="0"/>
              <a:t>Generate HDL... </a:t>
            </a:r>
            <a:r>
              <a:rPr lang="id-ID" b="1" dirty="0">
                <a:sym typeface="Wingdings" panose="05000000000000000000" pitchFamily="2" charset="2"/>
              </a:rPr>
              <a:t></a:t>
            </a:r>
            <a:r>
              <a:rPr lang="id-ID" b="1" dirty="0"/>
              <a:t> Generate </a:t>
            </a:r>
            <a:r>
              <a:rPr lang="id-ID" b="1" dirty="0">
                <a:sym typeface="Wingdings" panose="05000000000000000000" pitchFamily="2" charset="2"/>
              </a:rPr>
              <a:t></a:t>
            </a:r>
            <a:r>
              <a:rPr lang="id-ID" b="1" dirty="0"/>
              <a:t> Close</a:t>
            </a:r>
            <a:endParaRPr lang="en-ID" dirty="0"/>
          </a:p>
          <a:p>
            <a:r>
              <a:rPr lang="en-ID" dirty="0"/>
              <a:t>Re-generate testbench</a:t>
            </a:r>
          </a:p>
          <a:p>
            <a:pPr marL="0" indent="0">
              <a:buNone/>
            </a:pPr>
            <a:r>
              <a:rPr lang="id-ID" b="1" dirty="0"/>
              <a:t>Generate</a:t>
            </a:r>
            <a:r>
              <a:rPr lang="id-ID" dirty="0"/>
              <a:t> &gt;&gt; </a:t>
            </a:r>
            <a:r>
              <a:rPr lang="id-ID" b="1" dirty="0"/>
              <a:t>Generate Testbench System... </a:t>
            </a:r>
            <a:r>
              <a:rPr lang="id-ID" b="1" dirty="0">
                <a:sym typeface="Wingdings" panose="05000000000000000000" pitchFamily="2" charset="2"/>
              </a:rPr>
              <a:t></a:t>
            </a:r>
            <a:r>
              <a:rPr lang="id-ID" b="1" dirty="0"/>
              <a:t> Generate </a:t>
            </a:r>
            <a:r>
              <a:rPr lang="id-ID" b="1" dirty="0">
                <a:sym typeface="Wingdings" panose="05000000000000000000" pitchFamily="2" charset="2"/>
              </a:rPr>
              <a:t></a:t>
            </a:r>
            <a:r>
              <a:rPr lang="id-ID" b="1" dirty="0"/>
              <a:t> Close</a:t>
            </a:r>
            <a:endParaRPr lang="en-ID" dirty="0"/>
          </a:p>
          <a:p>
            <a:r>
              <a:rPr lang="en-ID" dirty="0"/>
              <a:t>In </a:t>
            </a:r>
            <a:r>
              <a:rPr lang="en-ID" dirty="0" err="1"/>
              <a:t>quartus</a:t>
            </a:r>
            <a:r>
              <a:rPr lang="en-ID" dirty="0"/>
              <a:t> main windows, </a:t>
            </a:r>
            <a:r>
              <a:rPr lang="en-ID" b="1" dirty="0"/>
              <a:t>Processing </a:t>
            </a:r>
            <a:r>
              <a:rPr lang="en-ID" b="1" dirty="0">
                <a:sym typeface="Wingdings" panose="05000000000000000000" pitchFamily="2" charset="2"/>
              </a:rPr>
              <a:t> Start Compilation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6734518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BD0D2-D91F-3F56-B6BA-FA8128E39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the board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1857D-A2DD-78B7-2C64-707E42903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 the board like previous project</a:t>
            </a:r>
          </a:p>
          <a:p>
            <a:r>
              <a:rPr lang="en-US" dirty="0"/>
              <a:t>See what happen </a:t>
            </a:r>
            <a:r>
              <a:rPr lang="en-US"/>
              <a:t>to the board</a:t>
            </a:r>
          </a:p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2634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1239</Words>
  <Application>Microsoft Office PowerPoint</Application>
  <PresentationFormat>Widescreen</PresentationFormat>
  <Paragraphs>174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Aptos</vt:lpstr>
      <vt:lpstr>Aptos Display</vt:lpstr>
      <vt:lpstr>Arial</vt:lpstr>
      <vt:lpstr>Consolas</vt:lpstr>
      <vt:lpstr>Wingdings</vt:lpstr>
      <vt:lpstr>Office Theme</vt:lpstr>
      <vt:lpstr>SoC Project</vt:lpstr>
      <vt:lpstr>Creating Quartus Project</vt:lpstr>
      <vt:lpstr>Add Verilog files</vt:lpstr>
      <vt:lpstr>PowerPoint Presentation</vt:lpstr>
      <vt:lpstr>Adding Nios-II processor</vt:lpstr>
      <vt:lpstr>Adding Memory</vt:lpstr>
      <vt:lpstr>Adding JTAG</vt:lpstr>
      <vt:lpstr>Checkpoint-1</vt:lpstr>
      <vt:lpstr>Adding Custom IP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 to Platform Designer</vt:lpstr>
      <vt:lpstr>All System in our SoC to be Integrated</vt:lpstr>
      <vt:lpstr>PowerPoint Presentation</vt:lpstr>
      <vt:lpstr>Assigning Base Address</vt:lpstr>
      <vt:lpstr>Assign Processor Vectors</vt:lpstr>
      <vt:lpstr>Change Conduit name</vt:lpstr>
      <vt:lpstr>Save SoC Design</vt:lpstr>
      <vt:lpstr>Generate file HDL</vt:lpstr>
      <vt:lpstr>Generate Testbench</vt:lpstr>
      <vt:lpstr>Closing Platform Designer</vt:lpstr>
      <vt:lpstr>Add files to Quartus Project</vt:lpstr>
      <vt:lpstr>Analysis &amp; Pin assignment</vt:lpstr>
      <vt:lpstr>Software Part</vt:lpstr>
      <vt:lpstr>Nios-II Software IDE</vt:lpstr>
      <vt:lpstr>Workspace Launcher.</vt:lpstr>
      <vt:lpstr>PowerPoint Presentation</vt:lpstr>
      <vt:lpstr>PowerPoint Presentation</vt:lpstr>
      <vt:lpstr>PowerPoint Presentation</vt:lpstr>
      <vt:lpstr>ELF file</vt:lpstr>
      <vt:lpstr>Return to Platform designer </vt:lpstr>
      <vt:lpstr>Compiling ALL</vt:lpstr>
      <vt:lpstr>Program the 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RIZKI ARDIANTO PRIRAMADHI</dc:creator>
  <cp:lastModifiedBy>RIZKI ARDIANTO PRIRAMADHI</cp:lastModifiedBy>
  <cp:revision>10</cp:revision>
  <dcterms:created xsi:type="dcterms:W3CDTF">2026-09-18T00:35:42Z</dcterms:created>
  <dcterms:modified xsi:type="dcterms:W3CDTF">2026-09-18T02:16:16Z</dcterms:modified>
</cp:coreProperties>
</file>